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notesMasterIdLst>
    <p:notesMasterId r:id="rId10"/>
  </p:notesMasterIdLst>
  <p:sldIdLst>
    <p:sldId id="256" r:id="rId2"/>
    <p:sldId id="259" r:id="rId3"/>
    <p:sldId id="260" r:id="rId4"/>
    <p:sldId id="261" r:id="rId5"/>
    <p:sldId id="262" r:id="rId6"/>
    <p:sldId id="266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6D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25E5076-3810-47DD-B79F-674D7AD40C01}" styleName="Dark Style 1 –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92"/>
  </p:normalViewPr>
  <p:slideViewPr>
    <p:cSldViewPr snapToGrid="0">
      <p:cViewPr varScale="1">
        <p:scale>
          <a:sx n="106" d="100"/>
          <a:sy n="106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785DDB-C21D-4019-849F-1366E49ADAB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E7ABBE5-FD6E-4DBA-8276-AF9CEFAA2BD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To explore patterns in user engagement (reactions, comments, shares) on Facebook Marketplace listings.</a:t>
          </a:r>
          <a:endParaRPr lang="en-US"/>
        </a:p>
      </dgm:t>
    </dgm:pt>
    <dgm:pt modelId="{C0248D3A-D8D0-4AD6-A3B5-B452ED5750B1}" type="parTrans" cxnId="{EDF14FD2-48B2-4FAF-94D9-B325A9819BBF}">
      <dgm:prSet/>
      <dgm:spPr/>
      <dgm:t>
        <a:bodyPr/>
        <a:lstStyle/>
        <a:p>
          <a:endParaRPr lang="en-US"/>
        </a:p>
      </dgm:t>
    </dgm:pt>
    <dgm:pt modelId="{45C9C27B-70FF-4425-95AB-610647CC8899}" type="sibTrans" cxnId="{EDF14FD2-48B2-4FAF-94D9-B325A9819BB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BEEA9BC-664C-4693-BFED-002E8465C19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To analyze how </a:t>
          </a:r>
          <a:r>
            <a:rPr lang="en-IN" b="1"/>
            <a:t>time-based factors</a:t>
          </a:r>
          <a:r>
            <a:rPr lang="en-IN"/>
            <a:t> (hour and weekday of posting) influence engagement metrics.</a:t>
          </a:r>
          <a:endParaRPr lang="en-US"/>
        </a:p>
      </dgm:t>
    </dgm:pt>
    <dgm:pt modelId="{F12D16A9-6E6B-490A-9828-D0B90C2C1509}" type="parTrans" cxnId="{A87DFE64-3BC5-44B9-BEF3-EE2ADE46AF4C}">
      <dgm:prSet/>
      <dgm:spPr/>
      <dgm:t>
        <a:bodyPr/>
        <a:lstStyle/>
        <a:p>
          <a:endParaRPr lang="en-US"/>
        </a:p>
      </dgm:t>
    </dgm:pt>
    <dgm:pt modelId="{F93828A6-E103-47B1-8880-AE5828CD6594}" type="sibTrans" cxnId="{A87DFE64-3BC5-44B9-BEF3-EE2ADE46AF4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805B057-C8F8-407D-A440-FD9DBC0B907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To identify which </a:t>
          </a:r>
          <a:r>
            <a:rPr lang="en-IN" b="1"/>
            <a:t>post features or behaviors</a:t>
          </a:r>
          <a:r>
            <a:rPr lang="en-IN"/>
            <a:t> drive higher interaction.</a:t>
          </a:r>
          <a:endParaRPr lang="en-US"/>
        </a:p>
      </dgm:t>
    </dgm:pt>
    <dgm:pt modelId="{8A4FCE41-890D-4BB2-9D8E-E6FF8D0A26D6}" type="parTrans" cxnId="{32D9A2A8-3D56-4D45-A42B-13B657ADD2C9}">
      <dgm:prSet/>
      <dgm:spPr/>
      <dgm:t>
        <a:bodyPr/>
        <a:lstStyle/>
        <a:p>
          <a:endParaRPr lang="en-US"/>
        </a:p>
      </dgm:t>
    </dgm:pt>
    <dgm:pt modelId="{5551F658-96C4-4294-8D99-4A5A7D492969}" type="sibTrans" cxnId="{32D9A2A8-3D56-4D45-A42B-13B657ADD2C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4AC3F47-4DEB-491E-85A2-39BA169E5CB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To explore and understand how different </a:t>
          </a:r>
          <a:r>
            <a:rPr lang="en-IN" b="1"/>
            <a:t>features</a:t>
          </a:r>
          <a:r>
            <a:rPr lang="en-IN"/>
            <a:t> (like posting time, media type, product category) influence </a:t>
          </a:r>
          <a:r>
            <a:rPr lang="en-IN" b="1"/>
            <a:t>user engagement.</a:t>
          </a:r>
          <a:endParaRPr lang="en-US"/>
        </a:p>
      </dgm:t>
    </dgm:pt>
    <dgm:pt modelId="{5A276CCF-80F8-49E6-AD23-965C2062665E}" type="parTrans" cxnId="{982EF700-0F19-45AD-9DE6-9D4F89BCA1BE}">
      <dgm:prSet/>
      <dgm:spPr/>
      <dgm:t>
        <a:bodyPr/>
        <a:lstStyle/>
        <a:p>
          <a:endParaRPr lang="en-US"/>
        </a:p>
      </dgm:t>
    </dgm:pt>
    <dgm:pt modelId="{4ED52FBD-FAA1-4B4B-986C-9A7FDCDE5A8D}" type="sibTrans" cxnId="{982EF700-0F19-45AD-9DE6-9D4F89BCA1BE}">
      <dgm:prSet/>
      <dgm:spPr/>
      <dgm:t>
        <a:bodyPr/>
        <a:lstStyle/>
        <a:p>
          <a:endParaRPr lang="en-US"/>
        </a:p>
      </dgm:t>
    </dgm:pt>
    <dgm:pt modelId="{F1111D3C-21F3-47A6-B7B5-F494B8FFAFF0}" type="pres">
      <dgm:prSet presAssocID="{BA785DDB-C21D-4019-849F-1366E49ADAB5}" presName="root" presStyleCnt="0">
        <dgm:presLayoutVars>
          <dgm:dir/>
          <dgm:resizeHandles val="exact"/>
        </dgm:presLayoutVars>
      </dgm:prSet>
      <dgm:spPr/>
    </dgm:pt>
    <dgm:pt modelId="{72AED408-5B5F-4114-A654-60674F665AE1}" type="pres">
      <dgm:prSet presAssocID="{2E7ABBE5-FD6E-4DBA-8276-AF9CEFAA2BDE}" presName="compNode" presStyleCnt="0"/>
      <dgm:spPr/>
    </dgm:pt>
    <dgm:pt modelId="{722215ED-1AC9-4088-A7D4-FBEC4C4D3C45}" type="pres">
      <dgm:prSet presAssocID="{2E7ABBE5-FD6E-4DBA-8276-AF9CEFAA2BDE}" presName="bgRect" presStyleLbl="bgShp" presStyleIdx="0" presStyleCnt="4"/>
      <dgm:spPr/>
    </dgm:pt>
    <dgm:pt modelId="{F2C2FE91-AE20-48FA-B6CF-3CB21B7B319E}" type="pres">
      <dgm:prSet presAssocID="{2E7ABBE5-FD6E-4DBA-8276-AF9CEFAA2BD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9DD4FF36-BAC9-4A6D-AE69-88A223E6509B}" type="pres">
      <dgm:prSet presAssocID="{2E7ABBE5-FD6E-4DBA-8276-AF9CEFAA2BDE}" presName="spaceRect" presStyleCnt="0"/>
      <dgm:spPr/>
    </dgm:pt>
    <dgm:pt modelId="{E7299E7E-B85F-4EC6-901B-7376706ED23F}" type="pres">
      <dgm:prSet presAssocID="{2E7ABBE5-FD6E-4DBA-8276-AF9CEFAA2BDE}" presName="parTx" presStyleLbl="revTx" presStyleIdx="0" presStyleCnt="4">
        <dgm:presLayoutVars>
          <dgm:chMax val="0"/>
          <dgm:chPref val="0"/>
        </dgm:presLayoutVars>
      </dgm:prSet>
      <dgm:spPr/>
    </dgm:pt>
    <dgm:pt modelId="{65A30684-A9D8-4D5B-B11F-A6000E87387E}" type="pres">
      <dgm:prSet presAssocID="{45C9C27B-70FF-4425-95AB-610647CC8899}" presName="sibTrans" presStyleCnt="0"/>
      <dgm:spPr/>
    </dgm:pt>
    <dgm:pt modelId="{2708ECB5-63C0-4C37-9F24-3B00509420AE}" type="pres">
      <dgm:prSet presAssocID="{1BEEA9BC-664C-4693-BFED-002E8465C19C}" presName="compNode" presStyleCnt="0"/>
      <dgm:spPr/>
    </dgm:pt>
    <dgm:pt modelId="{33F07995-4C31-4D1C-91E8-5EB353C7D8EB}" type="pres">
      <dgm:prSet presAssocID="{1BEEA9BC-664C-4693-BFED-002E8465C19C}" presName="bgRect" presStyleLbl="bgShp" presStyleIdx="1" presStyleCnt="4"/>
      <dgm:spPr/>
    </dgm:pt>
    <dgm:pt modelId="{C655B56A-6031-47EA-B3F2-DD3CA4C0CEBD}" type="pres">
      <dgm:prSet presAssocID="{1BEEA9BC-664C-4693-BFED-002E8465C19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78353C8B-F689-4FDA-9A0E-FF1422A6119E}" type="pres">
      <dgm:prSet presAssocID="{1BEEA9BC-664C-4693-BFED-002E8465C19C}" presName="spaceRect" presStyleCnt="0"/>
      <dgm:spPr/>
    </dgm:pt>
    <dgm:pt modelId="{E7255A02-67A7-47A6-965E-55A18E2DA668}" type="pres">
      <dgm:prSet presAssocID="{1BEEA9BC-664C-4693-BFED-002E8465C19C}" presName="parTx" presStyleLbl="revTx" presStyleIdx="1" presStyleCnt="4">
        <dgm:presLayoutVars>
          <dgm:chMax val="0"/>
          <dgm:chPref val="0"/>
        </dgm:presLayoutVars>
      </dgm:prSet>
      <dgm:spPr/>
    </dgm:pt>
    <dgm:pt modelId="{9343A0D8-9837-4F19-80BC-B772EBFEB26F}" type="pres">
      <dgm:prSet presAssocID="{F93828A6-E103-47B1-8880-AE5828CD6594}" presName="sibTrans" presStyleCnt="0"/>
      <dgm:spPr/>
    </dgm:pt>
    <dgm:pt modelId="{ED44D830-5683-49E6-927E-794E913EC880}" type="pres">
      <dgm:prSet presAssocID="{0805B057-C8F8-407D-A440-FD9DBC0B907E}" presName="compNode" presStyleCnt="0"/>
      <dgm:spPr/>
    </dgm:pt>
    <dgm:pt modelId="{DC89686B-3C33-432B-9F89-22A5A1469DD8}" type="pres">
      <dgm:prSet presAssocID="{0805B057-C8F8-407D-A440-FD9DBC0B907E}" presName="bgRect" presStyleLbl="bgShp" presStyleIdx="2" presStyleCnt="4"/>
      <dgm:spPr/>
    </dgm:pt>
    <dgm:pt modelId="{F3FF922F-9ABE-4197-A622-28A61E78A93B}" type="pres">
      <dgm:prSet presAssocID="{0805B057-C8F8-407D-A440-FD9DBC0B907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6E0B2538-19C5-4D4A-8195-0131065DB2B1}" type="pres">
      <dgm:prSet presAssocID="{0805B057-C8F8-407D-A440-FD9DBC0B907E}" presName="spaceRect" presStyleCnt="0"/>
      <dgm:spPr/>
    </dgm:pt>
    <dgm:pt modelId="{0CB9F43C-BF02-486F-88D7-8EC0D1E9DE92}" type="pres">
      <dgm:prSet presAssocID="{0805B057-C8F8-407D-A440-FD9DBC0B907E}" presName="parTx" presStyleLbl="revTx" presStyleIdx="2" presStyleCnt="4">
        <dgm:presLayoutVars>
          <dgm:chMax val="0"/>
          <dgm:chPref val="0"/>
        </dgm:presLayoutVars>
      </dgm:prSet>
      <dgm:spPr/>
    </dgm:pt>
    <dgm:pt modelId="{8572918E-43A6-4444-A9C4-2479C0BF24E4}" type="pres">
      <dgm:prSet presAssocID="{5551F658-96C4-4294-8D99-4A5A7D492969}" presName="sibTrans" presStyleCnt="0"/>
      <dgm:spPr/>
    </dgm:pt>
    <dgm:pt modelId="{9B4B8241-A980-4CE1-9460-1D1A5AD6EE79}" type="pres">
      <dgm:prSet presAssocID="{F4AC3F47-4DEB-491E-85A2-39BA169E5CBF}" presName="compNode" presStyleCnt="0"/>
      <dgm:spPr/>
    </dgm:pt>
    <dgm:pt modelId="{B1CC8BBF-974F-46D3-9FBC-159B14CFFBA0}" type="pres">
      <dgm:prSet presAssocID="{F4AC3F47-4DEB-491E-85A2-39BA169E5CBF}" presName="bgRect" presStyleLbl="bgShp" presStyleIdx="3" presStyleCnt="4"/>
      <dgm:spPr/>
    </dgm:pt>
    <dgm:pt modelId="{A1D5637B-F743-4332-938D-CEF65F84EE54}" type="pres">
      <dgm:prSet presAssocID="{F4AC3F47-4DEB-491E-85A2-39BA169E5CB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51DBE81-7DCA-4B7F-978E-4DBC3410AB4E}" type="pres">
      <dgm:prSet presAssocID="{F4AC3F47-4DEB-491E-85A2-39BA169E5CBF}" presName="spaceRect" presStyleCnt="0"/>
      <dgm:spPr/>
    </dgm:pt>
    <dgm:pt modelId="{38D5ED1F-B992-4FB0-AE40-DDB7863AC07D}" type="pres">
      <dgm:prSet presAssocID="{F4AC3F47-4DEB-491E-85A2-39BA169E5CB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82EF700-0F19-45AD-9DE6-9D4F89BCA1BE}" srcId="{BA785DDB-C21D-4019-849F-1366E49ADAB5}" destId="{F4AC3F47-4DEB-491E-85A2-39BA169E5CBF}" srcOrd="3" destOrd="0" parTransId="{5A276CCF-80F8-49E6-AD23-965C2062665E}" sibTransId="{4ED52FBD-FAA1-4B4B-986C-9A7FDCDE5A8D}"/>
    <dgm:cxn modelId="{30248C24-329C-F445-B167-AE2C1BC79CB5}" type="presOf" srcId="{1BEEA9BC-664C-4693-BFED-002E8465C19C}" destId="{E7255A02-67A7-47A6-965E-55A18E2DA668}" srcOrd="0" destOrd="0" presId="urn:microsoft.com/office/officeart/2018/2/layout/IconVerticalSolidList"/>
    <dgm:cxn modelId="{B6840242-2787-0948-98F4-15A85266BECE}" type="presOf" srcId="{2E7ABBE5-FD6E-4DBA-8276-AF9CEFAA2BDE}" destId="{E7299E7E-B85F-4EC6-901B-7376706ED23F}" srcOrd="0" destOrd="0" presId="urn:microsoft.com/office/officeart/2018/2/layout/IconVerticalSolidList"/>
    <dgm:cxn modelId="{51E0B84F-3D4A-FA4D-B00E-77D4FE2E2993}" type="presOf" srcId="{0805B057-C8F8-407D-A440-FD9DBC0B907E}" destId="{0CB9F43C-BF02-486F-88D7-8EC0D1E9DE92}" srcOrd="0" destOrd="0" presId="urn:microsoft.com/office/officeart/2018/2/layout/IconVerticalSolidList"/>
    <dgm:cxn modelId="{A87DFE64-3BC5-44B9-BEF3-EE2ADE46AF4C}" srcId="{BA785DDB-C21D-4019-849F-1366E49ADAB5}" destId="{1BEEA9BC-664C-4693-BFED-002E8465C19C}" srcOrd="1" destOrd="0" parTransId="{F12D16A9-6E6B-490A-9828-D0B90C2C1509}" sibTransId="{F93828A6-E103-47B1-8880-AE5828CD6594}"/>
    <dgm:cxn modelId="{901F756A-A2CF-8B4A-8F7D-7E0DE52AFCD2}" type="presOf" srcId="{F4AC3F47-4DEB-491E-85A2-39BA169E5CBF}" destId="{38D5ED1F-B992-4FB0-AE40-DDB7863AC07D}" srcOrd="0" destOrd="0" presId="urn:microsoft.com/office/officeart/2018/2/layout/IconVerticalSolidList"/>
    <dgm:cxn modelId="{32D9A2A8-3D56-4D45-A42B-13B657ADD2C9}" srcId="{BA785DDB-C21D-4019-849F-1366E49ADAB5}" destId="{0805B057-C8F8-407D-A440-FD9DBC0B907E}" srcOrd="2" destOrd="0" parTransId="{8A4FCE41-890D-4BB2-9D8E-E6FF8D0A26D6}" sibTransId="{5551F658-96C4-4294-8D99-4A5A7D492969}"/>
    <dgm:cxn modelId="{23F1E4AF-0965-3048-862A-671C94FCDDCF}" type="presOf" srcId="{BA785DDB-C21D-4019-849F-1366E49ADAB5}" destId="{F1111D3C-21F3-47A6-B7B5-F494B8FFAFF0}" srcOrd="0" destOrd="0" presId="urn:microsoft.com/office/officeart/2018/2/layout/IconVerticalSolidList"/>
    <dgm:cxn modelId="{EDF14FD2-48B2-4FAF-94D9-B325A9819BBF}" srcId="{BA785DDB-C21D-4019-849F-1366E49ADAB5}" destId="{2E7ABBE5-FD6E-4DBA-8276-AF9CEFAA2BDE}" srcOrd="0" destOrd="0" parTransId="{C0248D3A-D8D0-4AD6-A3B5-B452ED5750B1}" sibTransId="{45C9C27B-70FF-4425-95AB-610647CC8899}"/>
    <dgm:cxn modelId="{2284BD68-65C9-D146-A908-0E5F33712E81}" type="presParOf" srcId="{F1111D3C-21F3-47A6-B7B5-F494B8FFAFF0}" destId="{72AED408-5B5F-4114-A654-60674F665AE1}" srcOrd="0" destOrd="0" presId="urn:microsoft.com/office/officeart/2018/2/layout/IconVerticalSolidList"/>
    <dgm:cxn modelId="{735D7E1F-20CF-EC4A-A0F0-657D72479288}" type="presParOf" srcId="{72AED408-5B5F-4114-A654-60674F665AE1}" destId="{722215ED-1AC9-4088-A7D4-FBEC4C4D3C45}" srcOrd="0" destOrd="0" presId="urn:microsoft.com/office/officeart/2018/2/layout/IconVerticalSolidList"/>
    <dgm:cxn modelId="{53025C74-8A91-7948-AAF7-ECC27C448E68}" type="presParOf" srcId="{72AED408-5B5F-4114-A654-60674F665AE1}" destId="{F2C2FE91-AE20-48FA-B6CF-3CB21B7B319E}" srcOrd="1" destOrd="0" presId="urn:microsoft.com/office/officeart/2018/2/layout/IconVerticalSolidList"/>
    <dgm:cxn modelId="{F6BC3A2C-8971-6E46-9D0D-6F95D9975043}" type="presParOf" srcId="{72AED408-5B5F-4114-A654-60674F665AE1}" destId="{9DD4FF36-BAC9-4A6D-AE69-88A223E6509B}" srcOrd="2" destOrd="0" presId="urn:microsoft.com/office/officeart/2018/2/layout/IconVerticalSolidList"/>
    <dgm:cxn modelId="{31CB05A0-A438-7248-82A5-7EEF40BCE21F}" type="presParOf" srcId="{72AED408-5B5F-4114-A654-60674F665AE1}" destId="{E7299E7E-B85F-4EC6-901B-7376706ED23F}" srcOrd="3" destOrd="0" presId="urn:microsoft.com/office/officeart/2018/2/layout/IconVerticalSolidList"/>
    <dgm:cxn modelId="{A7EFB229-BCA3-2C46-B3F4-0115EA459B4C}" type="presParOf" srcId="{F1111D3C-21F3-47A6-B7B5-F494B8FFAFF0}" destId="{65A30684-A9D8-4D5B-B11F-A6000E87387E}" srcOrd="1" destOrd="0" presId="urn:microsoft.com/office/officeart/2018/2/layout/IconVerticalSolidList"/>
    <dgm:cxn modelId="{5282EA3A-8A0A-D948-B67F-6B51CE2C91C4}" type="presParOf" srcId="{F1111D3C-21F3-47A6-B7B5-F494B8FFAFF0}" destId="{2708ECB5-63C0-4C37-9F24-3B00509420AE}" srcOrd="2" destOrd="0" presId="urn:microsoft.com/office/officeart/2018/2/layout/IconVerticalSolidList"/>
    <dgm:cxn modelId="{8EDDF4A9-2170-9B40-9316-B90CCF38459F}" type="presParOf" srcId="{2708ECB5-63C0-4C37-9F24-3B00509420AE}" destId="{33F07995-4C31-4D1C-91E8-5EB353C7D8EB}" srcOrd="0" destOrd="0" presId="urn:microsoft.com/office/officeart/2018/2/layout/IconVerticalSolidList"/>
    <dgm:cxn modelId="{64682C1B-6489-D248-B8F7-B54C33039970}" type="presParOf" srcId="{2708ECB5-63C0-4C37-9F24-3B00509420AE}" destId="{C655B56A-6031-47EA-B3F2-DD3CA4C0CEBD}" srcOrd="1" destOrd="0" presId="urn:microsoft.com/office/officeart/2018/2/layout/IconVerticalSolidList"/>
    <dgm:cxn modelId="{B307DC4F-61D4-2D45-9BD5-679B9D19F111}" type="presParOf" srcId="{2708ECB5-63C0-4C37-9F24-3B00509420AE}" destId="{78353C8B-F689-4FDA-9A0E-FF1422A6119E}" srcOrd="2" destOrd="0" presId="urn:microsoft.com/office/officeart/2018/2/layout/IconVerticalSolidList"/>
    <dgm:cxn modelId="{1B912D90-FAB8-3F4B-937B-C08C70C3316B}" type="presParOf" srcId="{2708ECB5-63C0-4C37-9F24-3B00509420AE}" destId="{E7255A02-67A7-47A6-965E-55A18E2DA668}" srcOrd="3" destOrd="0" presId="urn:microsoft.com/office/officeart/2018/2/layout/IconVerticalSolidList"/>
    <dgm:cxn modelId="{54129C97-A9E6-AF47-8CDF-CA31F537D423}" type="presParOf" srcId="{F1111D3C-21F3-47A6-B7B5-F494B8FFAFF0}" destId="{9343A0D8-9837-4F19-80BC-B772EBFEB26F}" srcOrd="3" destOrd="0" presId="urn:microsoft.com/office/officeart/2018/2/layout/IconVerticalSolidList"/>
    <dgm:cxn modelId="{EFD7EFA5-7186-A342-8801-5A6D3F1FE3E7}" type="presParOf" srcId="{F1111D3C-21F3-47A6-B7B5-F494B8FFAFF0}" destId="{ED44D830-5683-49E6-927E-794E913EC880}" srcOrd="4" destOrd="0" presId="urn:microsoft.com/office/officeart/2018/2/layout/IconVerticalSolidList"/>
    <dgm:cxn modelId="{C115E24C-4ADF-4741-A2E6-87EADED3228A}" type="presParOf" srcId="{ED44D830-5683-49E6-927E-794E913EC880}" destId="{DC89686B-3C33-432B-9F89-22A5A1469DD8}" srcOrd="0" destOrd="0" presId="urn:microsoft.com/office/officeart/2018/2/layout/IconVerticalSolidList"/>
    <dgm:cxn modelId="{AEFCE463-553B-EC47-AEC5-5B8BE23E2DDF}" type="presParOf" srcId="{ED44D830-5683-49E6-927E-794E913EC880}" destId="{F3FF922F-9ABE-4197-A622-28A61E78A93B}" srcOrd="1" destOrd="0" presId="urn:microsoft.com/office/officeart/2018/2/layout/IconVerticalSolidList"/>
    <dgm:cxn modelId="{F4178472-BFFC-264C-8876-A74C9609A577}" type="presParOf" srcId="{ED44D830-5683-49E6-927E-794E913EC880}" destId="{6E0B2538-19C5-4D4A-8195-0131065DB2B1}" srcOrd="2" destOrd="0" presId="urn:microsoft.com/office/officeart/2018/2/layout/IconVerticalSolidList"/>
    <dgm:cxn modelId="{03714476-3BD0-0648-89D4-40C5A3B094D9}" type="presParOf" srcId="{ED44D830-5683-49E6-927E-794E913EC880}" destId="{0CB9F43C-BF02-486F-88D7-8EC0D1E9DE92}" srcOrd="3" destOrd="0" presId="urn:microsoft.com/office/officeart/2018/2/layout/IconVerticalSolidList"/>
    <dgm:cxn modelId="{F325A938-BF07-8548-82ED-1F282756ADE2}" type="presParOf" srcId="{F1111D3C-21F3-47A6-B7B5-F494B8FFAFF0}" destId="{8572918E-43A6-4444-A9C4-2479C0BF24E4}" srcOrd="5" destOrd="0" presId="urn:microsoft.com/office/officeart/2018/2/layout/IconVerticalSolidList"/>
    <dgm:cxn modelId="{668F1FC2-4CC9-1F4E-8EB9-BA8E36B2DC1F}" type="presParOf" srcId="{F1111D3C-21F3-47A6-B7B5-F494B8FFAFF0}" destId="{9B4B8241-A980-4CE1-9460-1D1A5AD6EE79}" srcOrd="6" destOrd="0" presId="urn:microsoft.com/office/officeart/2018/2/layout/IconVerticalSolidList"/>
    <dgm:cxn modelId="{B8EC95B8-1ACD-794C-B1FE-22992139CFD7}" type="presParOf" srcId="{9B4B8241-A980-4CE1-9460-1D1A5AD6EE79}" destId="{B1CC8BBF-974F-46D3-9FBC-159B14CFFBA0}" srcOrd="0" destOrd="0" presId="urn:microsoft.com/office/officeart/2018/2/layout/IconVerticalSolidList"/>
    <dgm:cxn modelId="{AA773556-C42B-3845-ABD6-C5F17C6679D6}" type="presParOf" srcId="{9B4B8241-A980-4CE1-9460-1D1A5AD6EE79}" destId="{A1D5637B-F743-4332-938D-CEF65F84EE54}" srcOrd="1" destOrd="0" presId="urn:microsoft.com/office/officeart/2018/2/layout/IconVerticalSolidList"/>
    <dgm:cxn modelId="{0DF5A897-0D32-DB48-82C9-C7E223A72F23}" type="presParOf" srcId="{9B4B8241-A980-4CE1-9460-1D1A5AD6EE79}" destId="{751DBE81-7DCA-4B7F-978E-4DBC3410AB4E}" srcOrd="2" destOrd="0" presId="urn:microsoft.com/office/officeart/2018/2/layout/IconVerticalSolidList"/>
    <dgm:cxn modelId="{D7C3F7D3-DCCB-2A43-A94E-DF313B4E35AD}" type="presParOf" srcId="{9B4B8241-A980-4CE1-9460-1D1A5AD6EE79}" destId="{38D5ED1F-B992-4FB0-AE40-DDB7863AC07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E055EC2-3DFC-49F9-9770-6E1C0AE501CB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FE3350-7005-4420-8691-372662DF08C8}">
      <dgm:prSet/>
      <dgm:spPr>
        <a:solidFill>
          <a:srgbClr val="002060"/>
        </a:solidFill>
      </dgm:spPr>
      <dgm:t>
        <a:bodyPr/>
        <a:lstStyle/>
        <a:p>
          <a:r>
            <a:rPr lang="en-IN" b="1"/>
            <a:t>Video posts</a:t>
          </a:r>
          <a:r>
            <a:rPr lang="en-IN"/>
            <a:t> generate </a:t>
          </a:r>
          <a:r>
            <a:rPr lang="en-IN" b="1"/>
            <a:t>exceptionally high engagement</a:t>
          </a:r>
          <a:r>
            <a:rPr lang="en-IN"/>
            <a:t>, especially in </a:t>
          </a:r>
          <a:r>
            <a:rPr lang="en-IN" b="1"/>
            <a:t>comments and shares</a:t>
          </a:r>
          <a:r>
            <a:rPr lang="en-IN"/>
            <a:t>, making them the most interactive content type.</a:t>
          </a:r>
          <a:endParaRPr lang="en-US"/>
        </a:p>
      </dgm:t>
    </dgm:pt>
    <dgm:pt modelId="{55267C45-E935-4EB4-8D37-DFC36D13D7CC}" type="parTrans" cxnId="{99082794-3B25-470D-8114-FAAC6D3D838B}">
      <dgm:prSet/>
      <dgm:spPr/>
      <dgm:t>
        <a:bodyPr/>
        <a:lstStyle/>
        <a:p>
          <a:endParaRPr lang="en-US"/>
        </a:p>
      </dgm:t>
    </dgm:pt>
    <dgm:pt modelId="{452CAC45-4EB3-4FBB-B726-19FCABC14C48}" type="sibTrans" cxnId="{99082794-3B25-470D-8114-FAAC6D3D838B}">
      <dgm:prSet/>
      <dgm:spPr/>
      <dgm:t>
        <a:bodyPr/>
        <a:lstStyle/>
        <a:p>
          <a:endParaRPr lang="en-US"/>
        </a:p>
      </dgm:t>
    </dgm:pt>
    <dgm:pt modelId="{5EDA5979-BD04-4F5C-BCAA-4D4514E6FF48}">
      <dgm:prSet/>
      <dgm:spPr>
        <a:solidFill>
          <a:srgbClr val="EC6D60"/>
        </a:solidFill>
      </dgm:spPr>
      <dgm:t>
        <a:bodyPr/>
        <a:lstStyle/>
        <a:p>
          <a:r>
            <a:rPr lang="en-IN" b="1"/>
            <a:t>Status updates</a:t>
          </a:r>
          <a:r>
            <a:rPr lang="en-IN"/>
            <a:t> receive the </a:t>
          </a:r>
          <a:r>
            <a:rPr lang="en-IN" b="1"/>
            <a:t>highest number of reactions</a:t>
          </a:r>
          <a:r>
            <a:rPr lang="en-IN"/>
            <a:t>, indicating strong viewer interest in text-based or personal posts.</a:t>
          </a:r>
          <a:endParaRPr lang="en-US"/>
        </a:p>
      </dgm:t>
    </dgm:pt>
    <dgm:pt modelId="{5D65518E-F2AA-4CF9-8F5B-99956CCFA751}" type="parTrans" cxnId="{CB30BAC4-57B7-4A22-9327-5F1DD93925DA}">
      <dgm:prSet/>
      <dgm:spPr/>
      <dgm:t>
        <a:bodyPr/>
        <a:lstStyle/>
        <a:p>
          <a:endParaRPr lang="en-US"/>
        </a:p>
      </dgm:t>
    </dgm:pt>
    <dgm:pt modelId="{6AB090FF-A9A1-4F76-ACA7-D06A1D42A109}" type="sibTrans" cxnId="{CB30BAC4-57B7-4A22-9327-5F1DD93925DA}">
      <dgm:prSet/>
      <dgm:spPr/>
      <dgm:t>
        <a:bodyPr/>
        <a:lstStyle/>
        <a:p>
          <a:endParaRPr lang="en-US"/>
        </a:p>
      </dgm:t>
    </dgm:pt>
    <dgm:pt modelId="{B2B767B4-B08D-41C3-927E-96C23B957F16}">
      <dgm:prSet/>
      <dgm:spPr>
        <a:solidFill>
          <a:srgbClr val="002060"/>
        </a:solidFill>
      </dgm:spPr>
      <dgm:t>
        <a:bodyPr/>
        <a:lstStyle/>
        <a:p>
          <a:r>
            <a:rPr lang="en-IN" b="1"/>
            <a:t>Day of the week matters</a:t>
          </a:r>
          <a:r>
            <a:rPr lang="en-IN"/>
            <a:t> — </a:t>
          </a:r>
          <a:r>
            <a:rPr lang="en-IN" b="1"/>
            <a:t>Thursday</a:t>
          </a:r>
          <a:r>
            <a:rPr lang="en-IN"/>
            <a:t> sees the highest average reactions, while </a:t>
          </a:r>
          <a:r>
            <a:rPr lang="en-IN" b="1"/>
            <a:t>Tuesday</a:t>
          </a:r>
          <a:r>
            <a:rPr lang="en-IN"/>
            <a:t> has the lowest.</a:t>
          </a:r>
          <a:endParaRPr lang="en-US"/>
        </a:p>
      </dgm:t>
    </dgm:pt>
    <dgm:pt modelId="{EFD84AC7-0AD8-4D15-A879-9F8B1A649025}" type="parTrans" cxnId="{15E6EF1D-4902-4E69-8ED6-DF13F952F92C}">
      <dgm:prSet/>
      <dgm:spPr/>
      <dgm:t>
        <a:bodyPr/>
        <a:lstStyle/>
        <a:p>
          <a:endParaRPr lang="en-US"/>
        </a:p>
      </dgm:t>
    </dgm:pt>
    <dgm:pt modelId="{4AF75F99-487F-4F7F-AA18-98358BB0EF78}" type="sibTrans" cxnId="{15E6EF1D-4902-4E69-8ED6-DF13F952F92C}">
      <dgm:prSet/>
      <dgm:spPr/>
      <dgm:t>
        <a:bodyPr/>
        <a:lstStyle/>
        <a:p>
          <a:endParaRPr lang="en-US"/>
        </a:p>
      </dgm:t>
    </dgm:pt>
    <dgm:pt modelId="{4D97E0DD-0EAD-452E-A9F8-2269AB0BF694}">
      <dgm:prSet/>
      <dgm:spPr>
        <a:solidFill>
          <a:srgbClr val="EC6D60"/>
        </a:solidFill>
      </dgm:spPr>
      <dgm:t>
        <a:bodyPr/>
        <a:lstStyle/>
        <a:p>
          <a:r>
            <a:rPr lang="en-IN" b="1"/>
            <a:t>Evening hours</a:t>
          </a:r>
          <a:r>
            <a:rPr lang="en-IN"/>
            <a:t> are the most effective for engagement, with posts published around </a:t>
          </a:r>
          <a:r>
            <a:rPr lang="en-IN" b="1"/>
            <a:t>7 PM</a:t>
          </a:r>
          <a:r>
            <a:rPr lang="en-IN"/>
            <a:t> receiving the </a:t>
          </a:r>
          <a:r>
            <a:rPr lang="en-IN" b="1"/>
            <a:t>highest average reactions</a:t>
          </a:r>
          <a:r>
            <a:rPr lang="en-IN"/>
            <a:t>.</a:t>
          </a:r>
          <a:endParaRPr lang="en-US"/>
        </a:p>
      </dgm:t>
    </dgm:pt>
    <dgm:pt modelId="{A1795ADA-DF8C-45E1-B43F-5719D898657A}" type="parTrans" cxnId="{8D679DDE-3E40-4C3B-BD5F-F0C74F579806}">
      <dgm:prSet/>
      <dgm:spPr/>
      <dgm:t>
        <a:bodyPr/>
        <a:lstStyle/>
        <a:p>
          <a:endParaRPr lang="en-US"/>
        </a:p>
      </dgm:t>
    </dgm:pt>
    <dgm:pt modelId="{D9E70C79-1392-47CD-A1F2-09D59ACE1413}" type="sibTrans" cxnId="{8D679DDE-3E40-4C3B-BD5F-F0C74F579806}">
      <dgm:prSet/>
      <dgm:spPr/>
      <dgm:t>
        <a:bodyPr/>
        <a:lstStyle/>
        <a:p>
          <a:endParaRPr lang="en-US"/>
        </a:p>
      </dgm:t>
    </dgm:pt>
    <dgm:pt modelId="{F8332A02-9486-E74A-91EE-87E744136B7A}" type="pres">
      <dgm:prSet presAssocID="{4E055EC2-3DFC-49F9-9770-6E1C0AE501CB}" presName="outerComposite" presStyleCnt="0">
        <dgm:presLayoutVars>
          <dgm:chMax val="5"/>
          <dgm:dir/>
          <dgm:resizeHandles val="exact"/>
        </dgm:presLayoutVars>
      </dgm:prSet>
      <dgm:spPr/>
    </dgm:pt>
    <dgm:pt modelId="{EE238B6F-C7AC-A44B-9A42-27788FCA1E1C}" type="pres">
      <dgm:prSet presAssocID="{4E055EC2-3DFC-49F9-9770-6E1C0AE501CB}" presName="dummyMaxCanvas" presStyleCnt="0">
        <dgm:presLayoutVars/>
      </dgm:prSet>
      <dgm:spPr/>
    </dgm:pt>
    <dgm:pt modelId="{970937B1-5420-B749-8C9D-74D58723BB0B}" type="pres">
      <dgm:prSet presAssocID="{4E055EC2-3DFC-49F9-9770-6E1C0AE501CB}" presName="FourNodes_1" presStyleLbl="node1" presStyleIdx="0" presStyleCnt="4">
        <dgm:presLayoutVars>
          <dgm:bulletEnabled val="1"/>
        </dgm:presLayoutVars>
      </dgm:prSet>
      <dgm:spPr/>
    </dgm:pt>
    <dgm:pt modelId="{CE2631ED-B139-A647-9B4A-C2D1C3CF9E6C}" type="pres">
      <dgm:prSet presAssocID="{4E055EC2-3DFC-49F9-9770-6E1C0AE501CB}" presName="FourNodes_2" presStyleLbl="node1" presStyleIdx="1" presStyleCnt="4">
        <dgm:presLayoutVars>
          <dgm:bulletEnabled val="1"/>
        </dgm:presLayoutVars>
      </dgm:prSet>
      <dgm:spPr/>
    </dgm:pt>
    <dgm:pt modelId="{8D044E0F-E0C9-C148-98F1-EF2C319AC925}" type="pres">
      <dgm:prSet presAssocID="{4E055EC2-3DFC-49F9-9770-6E1C0AE501CB}" presName="FourNodes_3" presStyleLbl="node1" presStyleIdx="2" presStyleCnt="4">
        <dgm:presLayoutVars>
          <dgm:bulletEnabled val="1"/>
        </dgm:presLayoutVars>
      </dgm:prSet>
      <dgm:spPr/>
    </dgm:pt>
    <dgm:pt modelId="{8CDAA9A8-5C74-DE4B-8AA8-BCD491AE6282}" type="pres">
      <dgm:prSet presAssocID="{4E055EC2-3DFC-49F9-9770-6E1C0AE501CB}" presName="FourNodes_4" presStyleLbl="node1" presStyleIdx="3" presStyleCnt="4">
        <dgm:presLayoutVars>
          <dgm:bulletEnabled val="1"/>
        </dgm:presLayoutVars>
      </dgm:prSet>
      <dgm:spPr/>
    </dgm:pt>
    <dgm:pt modelId="{4B29C24E-30E2-8546-9345-20F7F635C88B}" type="pres">
      <dgm:prSet presAssocID="{4E055EC2-3DFC-49F9-9770-6E1C0AE501CB}" presName="FourConn_1-2" presStyleLbl="fgAccFollowNode1" presStyleIdx="0" presStyleCnt="3">
        <dgm:presLayoutVars>
          <dgm:bulletEnabled val="1"/>
        </dgm:presLayoutVars>
      </dgm:prSet>
      <dgm:spPr/>
    </dgm:pt>
    <dgm:pt modelId="{8A8DEE8F-B061-FB40-BC85-5386B611FB1B}" type="pres">
      <dgm:prSet presAssocID="{4E055EC2-3DFC-49F9-9770-6E1C0AE501CB}" presName="FourConn_2-3" presStyleLbl="fgAccFollowNode1" presStyleIdx="1" presStyleCnt="3">
        <dgm:presLayoutVars>
          <dgm:bulletEnabled val="1"/>
        </dgm:presLayoutVars>
      </dgm:prSet>
      <dgm:spPr/>
    </dgm:pt>
    <dgm:pt modelId="{CB9B8289-4D7D-CC4D-9EF8-DA693D203944}" type="pres">
      <dgm:prSet presAssocID="{4E055EC2-3DFC-49F9-9770-6E1C0AE501CB}" presName="FourConn_3-4" presStyleLbl="fgAccFollowNode1" presStyleIdx="2" presStyleCnt="3">
        <dgm:presLayoutVars>
          <dgm:bulletEnabled val="1"/>
        </dgm:presLayoutVars>
      </dgm:prSet>
      <dgm:spPr/>
    </dgm:pt>
    <dgm:pt modelId="{C128B3D1-B319-9147-AF00-9F31E082D6CC}" type="pres">
      <dgm:prSet presAssocID="{4E055EC2-3DFC-49F9-9770-6E1C0AE501CB}" presName="FourNodes_1_text" presStyleLbl="node1" presStyleIdx="3" presStyleCnt="4">
        <dgm:presLayoutVars>
          <dgm:bulletEnabled val="1"/>
        </dgm:presLayoutVars>
      </dgm:prSet>
      <dgm:spPr/>
    </dgm:pt>
    <dgm:pt modelId="{AA07296A-7F5C-934C-9E4A-4DE69E3A1C2B}" type="pres">
      <dgm:prSet presAssocID="{4E055EC2-3DFC-49F9-9770-6E1C0AE501CB}" presName="FourNodes_2_text" presStyleLbl="node1" presStyleIdx="3" presStyleCnt="4">
        <dgm:presLayoutVars>
          <dgm:bulletEnabled val="1"/>
        </dgm:presLayoutVars>
      </dgm:prSet>
      <dgm:spPr/>
    </dgm:pt>
    <dgm:pt modelId="{5565AE2C-EAA7-1A43-A7AF-413220BCCE59}" type="pres">
      <dgm:prSet presAssocID="{4E055EC2-3DFC-49F9-9770-6E1C0AE501CB}" presName="FourNodes_3_text" presStyleLbl="node1" presStyleIdx="3" presStyleCnt="4">
        <dgm:presLayoutVars>
          <dgm:bulletEnabled val="1"/>
        </dgm:presLayoutVars>
      </dgm:prSet>
      <dgm:spPr/>
    </dgm:pt>
    <dgm:pt modelId="{36B2FFB7-D0A5-E542-B607-05559540AA7B}" type="pres">
      <dgm:prSet presAssocID="{4E055EC2-3DFC-49F9-9770-6E1C0AE501CB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4D10E119-8CD4-E748-941C-20743696FCFB}" type="presOf" srcId="{81FE3350-7005-4420-8691-372662DF08C8}" destId="{970937B1-5420-B749-8C9D-74D58723BB0B}" srcOrd="0" destOrd="0" presId="urn:microsoft.com/office/officeart/2005/8/layout/vProcess5"/>
    <dgm:cxn modelId="{15E6EF1D-4902-4E69-8ED6-DF13F952F92C}" srcId="{4E055EC2-3DFC-49F9-9770-6E1C0AE501CB}" destId="{B2B767B4-B08D-41C3-927E-96C23B957F16}" srcOrd="2" destOrd="0" parTransId="{EFD84AC7-0AD8-4D15-A879-9F8B1A649025}" sibTransId="{4AF75F99-487F-4F7F-AA18-98358BB0EF78}"/>
    <dgm:cxn modelId="{82397F22-541A-DC4A-B6B9-53808898DC12}" type="presOf" srcId="{5EDA5979-BD04-4F5C-BCAA-4D4514E6FF48}" destId="{AA07296A-7F5C-934C-9E4A-4DE69E3A1C2B}" srcOrd="1" destOrd="0" presId="urn:microsoft.com/office/officeart/2005/8/layout/vProcess5"/>
    <dgm:cxn modelId="{E2A55D3A-B479-004A-B93C-2039054700E1}" type="presOf" srcId="{B2B767B4-B08D-41C3-927E-96C23B957F16}" destId="{8D044E0F-E0C9-C148-98F1-EF2C319AC925}" srcOrd="0" destOrd="0" presId="urn:microsoft.com/office/officeart/2005/8/layout/vProcess5"/>
    <dgm:cxn modelId="{8D0E6057-B637-4A45-89DB-5670878380F0}" type="presOf" srcId="{6AB090FF-A9A1-4F76-ACA7-D06A1D42A109}" destId="{8A8DEE8F-B061-FB40-BC85-5386B611FB1B}" srcOrd="0" destOrd="0" presId="urn:microsoft.com/office/officeart/2005/8/layout/vProcess5"/>
    <dgm:cxn modelId="{E92D645D-61CF-3649-9219-10EEB6582FD7}" type="presOf" srcId="{4AF75F99-487F-4F7F-AA18-98358BB0EF78}" destId="{CB9B8289-4D7D-CC4D-9EF8-DA693D203944}" srcOrd="0" destOrd="0" presId="urn:microsoft.com/office/officeart/2005/8/layout/vProcess5"/>
    <dgm:cxn modelId="{1C26586B-562B-6349-95D6-46E69DB0B999}" type="presOf" srcId="{B2B767B4-B08D-41C3-927E-96C23B957F16}" destId="{5565AE2C-EAA7-1A43-A7AF-413220BCCE59}" srcOrd="1" destOrd="0" presId="urn:microsoft.com/office/officeart/2005/8/layout/vProcess5"/>
    <dgm:cxn modelId="{EE89EA76-5DBF-BD49-9568-C7D25277A635}" type="presOf" srcId="{4D97E0DD-0EAD-452E-A9F8-2269AB0BF694}" destId="{36B2FFB7-D0A5-E542-B607-05559540AA7B}" srcOrd="1" destOrd="0" presId="urn:microsoft.com/office/officeart/2005/8/layout/vProcess5"/>
    <dgm:cxn modelId="{43819383-2FB5-5742-9E62-EC55B5FC16B5}" type="presOf" srcId="{81FE3350-7005-4420-8691-372662DF08C8}" destId="{C128B3D1-B319-9147-AF00-9F31E082D6CC}" srcOrd="1" destOrd="0" presId="urn:microsoft.com/office/officeart/2005/8/layout/vProcess5"/>
    <dgm:cxn modelId="{99082794-3B25-470D-8114-FAAC6D3D838B}" srcId="{4E055EC2-3DFC-49F9-9770-6E1C0AE501CB}" destId="{81FE3350-7005-4420-8691-372662DF08C8}" srcOrd="0" destOrd="0" parTransId="{55267C45-E935-4EB4-8D37-DFC36D13D7CC}" sibTransId="{452CAC45-4EB3-4FBB-B726-19FCABC14C48}"/>
    <dgm:cxn modelId="{AA60AFA4-92A7-DE47-BC32-525BA8565E49}" type="presOf" srcId="{452CAC45-4EB3-4FBB-B726-19FCABC14C48}" destId="{4B29C24E-30E2-8546-9345-20F7F635C88B}" srcOrd="0" destOrd="0" presId="urn:microsoft.com/office/officeart/2005/8/layout/vProcess5"/>
    <dgm:cxn modelId="{A6E380B2-7C98-C443-B4F7-658A6FB1A70C}" type="presOf" srcId="{4E055EC2-3DFC-49F9-9770-6E1C0AE501CB}" destId="{F8332A02-9486-E74A-91EE-87E744136B7A}" srcOrd="0" destOrd="0" presId="urn:microsoft.com/office/officeart/2005/8/layout/vProcess5"/>
    <dgm:cxn modelId="{CB30BAC4-57B7-4A22-9327-5F1DD93925DA}" srcId="{4E055EC2-3DFC-49F9-9770-6E1C0AE501CB}" destId="{5EDA5979-BD04-4F5C-BCAA-4D4514E6FF48}" srcOrd="1" destOrd="0" parTransId="{5D65518E-F2AA-4CF9-8F5B-99956CCFA751}" sibTransId="{6AB090FF-A9A1-4F76-ACA7-D06A1D42A109}"/>
    <dgm:cxn modelId="{8D679DDE-3E40-4C3B-BD5F-F0C74F579806}" srcId="{4E055EC2-3DFC-49F9-9770-6E1C0AE501CB}" destId="{4D97E0DD-0EAD-452E-A9F8-2269AB0BF694}" srcOrd="3" destOrd="0" parTransId="{A1795ADA-DF8C-45E1-B43F-5719D898657A}" sibTransId="{D9E70C79-1392-47CD-A1F2-09D59ACE1413}"/>
    <dgm:cxn modelId="{3D80D9ED-0BE2-7C4F-A210-F0F3C178FE3B}" type="presOf" srcId="{5EDA5979-BD04-4F5C-BCAA-4D4514E6FF48}" destId="{CE2631ED-B139-A647-9B4A-C2D1C3CF9E6C}" srcOrd="0" destOrd="0" presId="urn:microsoft.com/office/officeart/2005/8/layout/vProcess5"/>
    <dgm:cxn modelId="{A56D9AF6-860B-CD46-8F81-9D73E70D8C14}" type="presOf" srcId="{4D97E0DD-0EAD-452E-A9F8-2269AB0BF694}" destId="{8CDAA9A8-5C74-DE4B-8AA8-BCD491AE6282}" srcOrd="0" destOrd="0" presId="urn:microsoft.com/office/officeart/2005/8/layout/vProcess5"/>
    <dgm:cxn modelId="{9D49C8DA-0938-234A-8E3D-6F4B24026FC7}" type="presParOf" srcId="{F8332A02-9486-E74A-91EE-87E744136B7A}" destId="{EE238B6F-C7AC-A44B-9A42-27788FCA1E1C}" srcOrd="0" destOrd="0" presId="urn:microsoft.com/office/officeart/2005/8/layout/vProcess5"/>
    <dgm:cxn modelId="{895BD29A-F708-4C4B-A624-B8358AB4E89D}" type="presParOf" srcId="{F8332A02-9486-E74A-91EE-87E744136B7A}" destId="{970937B1-5420-B749-8C9D-74D58723BB0B}" srcOrd="1" destOrd="0" presId="urn:microsoft.com/office/officeart/2005/8/layout/vProcess5"/>
    <dgm:cxn modelId="{78B8DFB6-0AA9-524E-B7DA-A654809995FE}" type="presParOf" srcId="{F8332A02-9486-E74A-91EE-87E744136B7A}" destId="{CE2631ED-B139-A647-9B4A-C2D1C3CF9E6C}" srcOrd="2" destOrd="0" presId="urn:microsoft.com/office/officeart/2005/8/layout/vProcess5"/>
    <dgm:cxn modelId="{C8C1672C-523E-2849-B055-3A876EFAFFAF}" type="presParOf" srcId="{F8332A02-9486-E74A-91EE-87E744136B7A}" destId="{8D044E0F-E0C9-C148-98F1-EF2C319AC925}" srcOrd="3" destOrd="0" presId="urn:microsoft.com/office/officeart/2005/8/layout/vProcess5"/>
    <dgm:cxn modelId="{EEB3BF1D-E51D-B443-94A3-AD0A5047210E}" type="presParOf" srcId="{F8332A02-9486-E74A-91EE-87E744136B7A}" destId="{8CDAA9A8-5C74-DE4B-8AA8-BCD491AE6282}" srcOrd="4" destOrd="0" presId="urn:microsoft.com/office/officeart/2005/8/layout/vProcess5"/>
    <dgm:cxn modelId="{D4574E93-D84D-B149-8B86-363B30687FDC}" type="presParOf" srcId="{F8332A02-9486-E74A-91EE-87E744136B7A}" destId="{4B29C24E-30E2-8546-9345-20F7F635C88B}" srcOrd="5" destOrd="0" presId="urn:microsoft.com/office/officeart/2005/8/layout/vProcess5"/>
    <dgm:cxn modelId="{8E1C13CB-DD1C-BF43-B680-68C18A284647}" type="presParOf" srcId="{F8332A02-9486-E74A-91EE-87E744136B7A}" destId="{8A8DEE8F-B061-FB40-BC85-5386B611FB1B}" srcOrd="6" destOrd="0" presId="urn:microsoft.com/office/officeart/2005/8/layout/vProcess5"/>
    <dgm:cxn modelId="{1DE569C4-2EAF-7043-9CEF-8C68544BDEBD}" type="presParOf" srcId="{F8332A02-9486-E74A-91EE-87E744136B7A}" destId="{CB9B8289-4D7D-CC4D-9EF8-DA693D203944}" srcOrd="7" destOrd="0" presId="urn:microsoft.com/office/officeart/2005/8/layout/vProcess5"/>
    <dgm:cxn modelId="{F359D68E-E761-4644-9460-F48DAC1A5052}" type="presParOf" srcId="{F8332A02-9486-E74A-91EE-87E744136B7A}" destId="{C128B3D1-B319-9147-AF00-9F31E082D6CC}" srcOrd="8" destOrd="0" presId="urn:microsoft.com/office/officeart/2005/8/layout/vProcess5"/>
    <dgm:cxn modelId="{EA5E369A-78C3-DC45-BBB2-8284D7B6E867}" type="presParOf" srcId="{F8332A02-9486-E74A-91EE-87E744136B7A}" destId="{AA07296A-7F5C-934C-9E4A-4DE69E3A1C2B}" srcOrd="9" destOrd="0" presId="urn:microsoft.com/office/officeart/2005/8/layout/vProcess5"/>
    <dgm:cxn modelId="{B05FED18-BE83-1D40-9239-0DF493C15BFE}" type="presParOf" srcId="{F8332A02-9486-E74A-91EE-87E744136B7A}" destId="{5565AE2C-EAA7-1A43-A7AF-413220BCCE59}" srcOrd="10" destOrd="0" presId="urn:microsoft.com/office/officeart/2005/8/layout/vProcess5"/>
    <dgm:cxn modelId="{2A2490A0-4FD4-114A-BE23-92CE58F13BEA}" type="presParOf" srcId="{F8332A02-9486-E74A-91EE-87E744136B7A}" destId="{36B2FFB7-D0A5-E542-B607-05559540AA7B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2215ED-1AC9-4088-A7D4-FBEC4C4D3C45}">
      <dsp:nvSpPr>
        <dsp:cNvPr id="0" name=""/>
        <dsp:cNvSpPr/>
      </dsp:nvSpPr>
      <dsp:spPr>
        <a:xfrm>
          <a:off x="0" y="1584"/>
          <a:ext cx="10358437" cy="8029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C2FE91-AE20-48FA-B6CF-3CB21B7B319E}">
      <dsp:nvSpPr>
        <dsp:cNvPr id="0" name=""/>
        <dsp:cNvSpPr/>
      </dsp:nvSpPr>
      <dsp:spPr>
        <a:xfrm>
          <a:off x="242897" y="182251"/>
          <a:ext cx="441631" cy="4416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299E7E-B85F-4EC6-901B-7376706ED23F}">
      <dsp:nvSpPr>
        <dsp:cNvPr id="0" name=""/>
        <dsp:cNvSpPr/>
      </dsp:nvSpPr>
      <dsp:spPr>
        <a:xfrm>
          <a:off x="927425" y="1584"/>
          <a:ext cx="9431011" cy="8029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981" tIns="84981" rIns="84981" bIns="8498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To explore patterns in user engagement (reactions, comments, shares) on Facebook Marketplace listings.</a:t>
          </a:r>
          <a:endParaRPr lang="en-US" sz="2000" kern="1200"/>
        </a:p>
      </dsp:txBody>
      <dsp:txXfrm>
        <a:off x="927425" y="1584"/>
        <a:ext cx="9431011" cy="802965"/>
      </dsp:txXfrm>
    </dsp:sp>
    <dsp:sp modelId="{33F07995-4C31-4D1C-91E8-5EB353C7D8EB}">
      <dsp:nvSpPr>
        <dsp:cNvPr id="0" name=""/>
        <dsp:cNvSpPr/>
      </dsp:nvSpPr>
      <dsp:spPr>
        <a:xfrm>
          <a:off x="0" y="1005291"/>
          <a:ext cx="10358437" cy="8029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55B56A-6031-47EA-B3F2-DD3CA4C0CEBD}">
      <dsp:nvSpPr>
        <dsp:cNvPr id="0" name=""/>
        <dsp:cNvSpPr/>
      </dsp:nvSpPr>
      <dsp:spPr>
        <a:xfrm>
          <a:off x="242897" y="1185959"/>
          <a:ext cx="441631" cy="4416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255A02-67A7-47A6-965E-55A18E2DA668}">
      <dsp:nvSpPr>
        <dsp:cNvPr id="0" name=""/>
        <dsp:cNvSpPr/>
      </dsp:nvSpPr>
      <dsp:spPr>
        <a:xfrm>
          <a:off x="927425" y="1005291"/>
          <a:ext cx="9431011" cy="8029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981" tIns="84981" rIns="84981" bIns="8498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To analyze how </a:t>
          </a:r>
          <a:r>
            <a:rPr lang="en-IN" sz="2000" b="1" kern="1200"/>
            <a:t>time-based factors</a:t>
          </a:r>
          <a:r>
            <a:rPr lang="en-IN" sz="2000" kern="1200"/>
            <a:t> (hour and weekday of posting) influence engagement metrics.</a:t>
          </a:r>
          <a:endParaRPr lang="en-US" sz="2000" kern="1200"/>
        </a:p>
      </dsp:txBody>
      <dsp:txXfrm>
        <a:off x="927425" y="1005291"/>
        <a:ext cx="9431011" cy="802965"/>
      </dsp:txXfrm>
    </dsp:sp>
    <dsp:sp modelId="{DC89686B-3C33-432B-9F89-22A5A1469DD8}">
      <dsp:nvSpPr>
        <dsp:cNvPr id="0" name=""/>
        <dsp:cNvSpPr/>
      </dsp:nvSpPr>
      <dsp:spPr>
        <a:xfrm>
          <a:off x="0" y="2008999"/>
          <a:ext cx="10358437" cy="8029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FF922F-9ABE-4197-A622-28A61E78A93B}">
      <dsp:nvSpPr>
        <dsp:cNvPr id="0" name=""/>
        <dsp:cNvSpPr/>
      </dsp:nvSpPr>
      <dsp:spPr>
        <a:xfrm>
          <a:off x="242897" y="2189666"/>
          <a:ext cx="441631" cy="4416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B9F43C-BF02-486F-88D7-8EC0D1E9DE92}">
      <dsp:nvSpPr>
        <dsp:cNvPr id="0" name=""/>
        <dsp:cNvSpPr/>
      </dsp:nvSpPr>
      <dsp:spPr>
        <a:xfrm>
          <a:off x="927425" y="2008999"/>
          <a:ext cx="9431011" cy="8029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981" tIns="84981" rIns="84981" bIns="8498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To identify which </a:t>
          </a:r>
          <a:r>
            <a:rPr lang="en-IN" sz="2000" b="1" kern="1200"/>
            <a:t>post features or behaviors</a:t>
          </a:r>
          <a:r>
            <a:rPr lang="en-IN" sz="2000" kern="1200"/>
            <a:t> drive higher interaction.</a:t>
          </a:r>
          <a:endParaRPr lang="en-US" sz="2000" kern="1200"/>
        </a:p>
      </dsp:txBody>
      <dsp:txXfrm>
        <a:off x="927425" y="2008999"/>
        <a:ext cx="9431011" cy="802965"/>
      </dsp:txXfrm>
    </dsp:sp>
    <dsp:sp modelId="{B1CC8BBF-974F-46D3-9FBC-159B14CFFBA0}">
      <dsp:nvSpPr>
        <dsp:cNvPr id="0" name=""/>
        <dsp:cNvSpPr/>
      </dsp:nvSpPr>
      <dsp:spPr>
        <a:xfrm>
          <a:off x="0" y="3012706"/>
          <a:ext cx="10358437" cy="8029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D5637B-F743-4332-938D-CEF65F84EE54}">
      <dsp:nvSpPr>
        <dsp:cNvPr id="0" name=""/>
        <dsp:cNvSpPr/>
      </dsp:nvSpPr>
      <dsp:spPr>
        <a:xfrm>
          <a:off x="242897" y="3193374"/>
          <a:ext cx="441631" cy="44163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D5ED1F-B992-4FB0-AE40-DDB7863AC07D}">
      <dsp:nvSpPr>
        <dsp:cNvPr id="0" name=""/>
        <dsp:cNvSpPr/>
      </dsp:nvSpPr>
      <dsp:spPr>
        <a:xfrm>
          <a:off x="927425" y="3012706"/>
          <a:ext cx="9431011" cy="8029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981" tIns="84981" rIns="84981" bIns="8498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To explore and understand how different </a:t>
          </a:r>
          <a:r>
            <a:rPr lang="en-IN" sz="2000" b="1" kern="1200"/>
            <a:t>features</a:t>
          </a:r>
          <a:r>
            <a:rPr lang="en-IN" sz="2000" kern="1200"/>
            <a:t> (like posting time, media type, product category) influence </a:t>
          </a:r>
          <a:r>
            <a:rPr lang="en-IN" sz="2000" b="1" kern="1200"/>
            <a:t>user engagement.</a:t>
          </a:r>
          <a:endParaRPr lang="en-US" sz="2000" kern="1200"/>
        </a:p>
      </dsp:txBody>
      <dsp:txXfrm>
        <a:off x="927425" y="3012706"/>
        <a:ext cx="9431011" cy="8029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0937B1-5420-B749-8C9D-74D58723BB0B}">
      <dsp:nvSpPr>
        <dsp:cNvPr id="0" name=""/>
        <dsp:cNvSpPr/>
      </dsp:nvSpPr>
      <dsp:spPr>
        <a:xfrm>
          <a:off x="0" y="0"/>
          <a:ext cx="8286132" cy="905256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Video posts</a:t>
          </a:r>
          <a:r>
            <a:rPr lang="en-IN" sz="1700" kern="1200"/>
            <a:t> generate </a:t>
          </a:r>
          <a:r>
            <a:rPr lang="en-IN" sz="1700" b="1" kern="1200"/>
            <a:t>exceptionally high engagement</a:t>
          </a:r>
          <a:r>
            <a:rPr lang="en-IN" sz="1700" kern="1200"/>
            <a:t>, especially in </a:t>
          </a:r>
          <a:r>
            <a:rPr lang="en-IN" sz="1700" b="1" kern="1200"/>
            <a:t>comments and shares</a:t>
          </a:r>
          <a:r>
            <a:rPr lang="en-IN" sz="1700" kern="1200"/>
            <a:t>, making them the most interactive content type.</a:t>
          </a:r>
          <a:endParaRPr lang="en-US" sz="1700" kern="1200"/>
        </a:p>
      </dsp:txBody>
      <dsp:txXfrm>
        <a:off x="26514" y="26514"/>
        <a:ext cx="7232796" cy="852228"/>
      </dsp:txXfrm>
    </dsp:sp>
    <dsp:sp modelId="{CE2631ED-B139-A647-9B4A-C2D1C3CF9E6C}">
      <dsp:nvSpPr>
        <dsp:cNvPr id="0" name=""/>
        <dsp:cNvSpPr/>
      </dsp:nvSpPr>
      <dsp:spPr>
        <a:xfrm>
          <a:off x="693963" y="1069848"/>
          <a:ext cx="8286132" cy="905256"/>
        </a:xfrm>
        <a:prstGeom prst="roundRect">
          <a:avLst>
            <a:gd name="adj" fmla="val 10000"/>
          </a:avLst>
        </a:prstGeom>
        <a:solidFill>
          <a:srgbClr val="EC6D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Status updates</a:t>
          </a:r>
          <a:r>
            <a:rPr lang="en-IN" sz="1700" kern="1200"/>
            <a:t> receive the </a:t>
          </a:r>
          <a:r>
            <a:rPr lang="en-IN" sz="1700" b="1" kern="1200"/>
            <a:t>highest number of reactions</a:t>
          </a:r>
          <a:r>
            <a:rPr lang="en-IN" sz="1700" kern="1200"/>
            <a:t>, indicating strong viewer interest in text-based or personal posts.</a:t>
          </a:r>
          <a:endParaRPr lang="en-US" sz="1700" kern="1200"/>
        </a:p>
      </dsp:txBody>
      <dsp:txXfrm>
        <a:off x="720477" y="1096362"/>
        <a:ext cx="6950724" cy="852228"/>
      </dsp:txXfrm>
    </dsp:sp>
    <dsp:sp modelId="{8D044E0F-E0C9-C148-98F1-EF2C319AC925}">
      <dsp:nvSpPr>
        <dsp:cNvPr id="0" name=""/>
        <dsp:cNvSpPr/>
      </dsp:nvSpPr>
      <dsp:spPr>
        <a:xfrm>
          <a:off x="1377569" y="2139696"/>
          <a:ext cx="8286132" cy="905256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Day of the week matters</a:t>
          </a:r>
          <a:r>
            <a:rPr lang="en-IN" sz="1700" kern="1200"/>
            <a:t> — </a:t>
          </a:r>
          <a:r>
            <a:rPr lang="en-IN" sz="1700" b="1" kern="1200"/>
            <a:t>Thursday</a:t>
          </a:r>
          <a:r>
            <a:rPr lang="en-IN" sz="1700" kern="1200"/>
            <a:t> sees the highest average reactions, while </a:t>
          </a:r>
          <a:r>
            <a:rPr lang="en-IN" sz="1700" b="1" kern="1200"/>
            <a:t>Tuesday</a:t>
          </a:r>
          <a:r>
            <a:rPr lang="en-IN" sz="1700" kern="1200"/>
            <a:t> has the lowest.</a:t>
          </a:r>
          <a:endParaRPr lang="en-US" sz="1700" kern="1200"/>
        </a:p>
      </dsp:txBody>
      <dsp:txXfrm>
        <a:off x="1404083" y="2166210"/>
        <a:ext cx="6961082" cy="852228"/>
      </dsp:txXfrm>
    </dsp:sp>
    <dsp:sp modelId="{8CDAA9A8-5C74-DE4B-8AA8-BCD491AE6282}">
      <dsp:nvSpPr>
        <dsp:cNvPr id="0" name=""/>
        <dsp:cNvSpPr/>
      </dsp:nvSpPr>
      <dsp:spPr>
        <a:xfrm>
          <a:off x="2071533" y="3209544"/>
          <a:ext cx="8286132" cy="905256"/>
        </a:xfrm>
        <a:prstGeom prst="roundRect">
          <a:avLst>
            <a:gd name="adj" fmla="val 10000"/>
          </a:avLst>
        </a:prstGeom>
        <a:solidFill>
          <a:srgbClr val="EC6D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Evening hours</a:t>
          </a:r>
          <a:r>
            <a:rPr lang="en-IN" sz="1700" kern="1200"/>
            <a:t> are the most effective for engagement, with posts published around </a:t>
          </a:r>
          <a:r>
            <a:rPr lang="en-IN" sz="1700" b="1" kern="1200"/>
            <a:t>7 PM</a:t>
          </a:r>
          <a:r>
            <a:rPr lang="en-IN" sz="1700" kern="1200"/>
            <a:t> receiving the </a:t>
          </a:r>
          <a:r>
            <a:rPr lang="en-IN" sz="1700" b="1" kern="1200"/>
            <a:t>highest average reactions</a:t>
          </a:r>
          <a:r>
            <a:rPr lang="en-IN" sz="1700" kern="1200"/>
            <a:t>.</a:t>
          </a:r>
          <a:endParaRPr lang="en-US" sz="1700" kern="1200"/>
        </a:p>
      </dsp:txBody>
      <dsp:txXfrm>
        <a:off x="2098047" y="3236058"/>
        <a:ext cx="6950724" cy="852228"/>
      </dsp:txXfrm>
    </dsp:sp>
    <dsp:sp modelId="{4B29C24E-30E2-8546-9345-20F7F635C88B}">
      <dsp:nvSpPr>
        <dsp:cNvPr id="0" name=""/>
        <dsp:cNvSpPr/>
      </dsp:nvSpPr>
      <dsp:spPr>
        <a:xfrm>
          <a:off x="7697716" y="693343"/>
          <a:ext cx="588416" cy="58841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7830110" y="693343"/>
        <a:ext cx="323628" cy="442783"/>
      </dsp:txXfrm>
    </dsp:sp>
    <dsp:sp modelId="{8A8DEE8F-B061-FB40-BC85-5386B611FB1B}">
      <dsp:nvSpPr>
        <dsp:cNvPr id="0" name=""/>
        <dsp:cNvSpPr/>
      </dsp:nvSpPr>
      <dsp:spPr>
        <a:xfrm>
          <a:off x="8391679" y="1763192"/>
          <a:ext cx="588416" cy="58841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8524073" y="1763192"/>
        <a:ext cx="323628" cy="442783"/>
      </dsp:txXfrm>
    </dsp:sp>
    <dsp:sp modelId="{CB9B8289-4D7D-CC4D-9EF8-DA693D203944}">
      <dsp:nvSpPr>
        <dsp:cNvPr id="0" name=""/>
        <dsp:cNvSpPr/>
      </dsp:nvSpPr>
      <dsp:spPr>
        <a:xfrm>
          <a:off x="9075285" y="2833040"/>
          <a:ext cx="588416" cy="58841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9207679" y="2833040"/>
        <a:ext cx="323628" cy="4427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02:50:38.979"/>
    </inkml:context>
    <inkml:brush xml:id="br0">
      <inkml:brushProperty name="width" value="0.1" units="cm"/>
      <inkml:brushProperty name="height" value="0.1" units="cm"/>
      <inkml:brushProperty name="color" value="#001F60"/>
    </inkml:brush>
  </inkml:definitions>
  <inkml:trace contextRef="#ctx0" brushRef="#br0">0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FEB28-4244-1042-A9CF-C7F0E5E7120E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17CE46-6477-5946-ACFC-9FB26E2AE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271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17CE46-6477-5946-ACFC-9FB26E2AEB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328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17CE46-6477-5946-ACFC-9FB26E2AEB1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513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17CE46-6477-5946-ACFC-9FB26E2AEB1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832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85BB-8B07-4DC9-86F3-2A225C777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261872"/>
            <a:ext cx="7638222" cy="2852928"/>
          </a:xfrm>
        </p:spPr>
        <p:txBody>
          <a:bodyPr anchor="b">
            <a:normAutofit/>
          </a:bodyPr>
          <a:lstStyle>
            <a:lvl1pPr algn="l">
              <a:lnSpc>
                <a:spcPct val="130000"/>
              </a:lnSpc>
              <a:defRPr sz="3600" spc="1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D496A-6E7A-4923-8ED5-B4164125D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4681728"/>
            <a:ext cx="7638222" cy="9292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buNone/>
              <a:defRPr sz="1600" b="1" cap="all" spc="6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E3D20-43DC-4C14-8CFF-18545AED1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FC300-5AFC-418B-85FD-EFA94BD7A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C7E81-ED3C-4DB0-8E74-AD2A87E6B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C817C9-850F-4FB6-B93B-CF3076C4A5C1}"/>
              </a:ext>
            </a:extLst>
          </p:cNvPr>
          <p:cNvGrpSpPr/>
          <p:nvPr/>
        </p:nvGrpSpPr>
        <p:grpSpPr>
          <a:xfrm flipH="1">
            <a:off x="0" y="0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59433A8-B67D-4675-AFDE-131069A709FC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1CD1C45-6A4D-4237-B39C-2D58F401A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6039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5F8D-0421-4AEC-9C40-A13163EC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7680-115A-411F-AEF6-4AC2096B4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CC193-1304-4D0F-8331-14D4EC08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455C1-CD32-4050-BAFF-51CC6B62D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AF608-FF11-4CBE-B717-5D56AE67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450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BD23A02E-6DCF-427A-8CFD-281B2185C7F0}"/>
              </a:ext>
            </a:extLst>
          </p:cNvPr>
          <p:cNvSpPr/>
          <p:nvPr/>
        </p:nvSpPr>
        <p:spPr>
          <a:xfrm>
            <a:off x="3242985" y="511814"/>
            <a:ext cx="5706031" cy="570603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dist="165100" dir="2220000" algn="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B4C32-F19C-44F3-8EF8-1F506D74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9192" y="1709738"/>
            <a:ext cx="4893617" cy="25538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89729-131C-4F78-9DAA-E9EE28EA9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2249" y="4540468"/>
            <a:ext cx="4067503" cy="11540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1" cap="all" spc="6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4E608-AC1F-41FB-974A-BD619C6C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86158-8B03-45C3-891D-0357B198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3B054-E8A2-43FD-B0FB-B1CCFA4B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244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4AA7-6D5A-402E-AD1A-880F2BDB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D32B6-F9D8-4A43-B52C-336CFAB00A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976" y="2019299"/>
            <a:ext cx="4995019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0CDD9-5742-4A34-BA72-7CCA72D91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3718" y="2019299"/>
            <a:ext cx="5027954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783AA-D2AB-4385-A91F-870CB656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AAD9C-5CA2-4DA1-84D3-B1838979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AB3C7-9574-47BC-932D-782BEE998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015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C468-781B-4BC5-8DEA-B9EF2BF90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460" y="369168"/>
            <a:ext cx="10458729" cy="143981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7223F-48E4-491D-AB5D-5FC8A0C56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101" y="1843067"/>
            <a:ext cx="5007894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6B764-4B87-42FF-ABAA-69B07B88F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0101" y="2505075"/>
            <a:ext cx="5007894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357B9-406F-4BF9-B8FB-C53421EEF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061" y="1843067"/>
            <a:ext cx="4994128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20462B-1939-4DAA-A7DD-6BDC95054A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6061" y="2505075"/>
            <a:ext cx="4994128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6C938B-C4C2-4FA9-85CA-9CD742CD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D8886-0D28-4D49-8D43-151D37E94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2FDDE8-E9F8-4B6C-9A40-829617A7C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82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AE3D8-6C35-428B-B2F2-251FDE10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983769"/>
            <a:ext cx="10094770" cy="1180574"/>
          </a:xfrm>
          <a:solidFill>
            <a:schemeClr val="accent1">
              <a:lumMod val="20000"/>
              <a:lumOff val="80000"/>
            </a:schemeClr>
          </a:solidFill>
          <a:effectLst>
            <a:outerShdw dist="165100" dir="18900000" algn="bl" rotWithShape="0">
              <a:prstClr val="black"/>
            </a:outerShdw>
          </a:effectLst>
        </p:spPr>
        <p:txBody>
          <a:bodyPr/>
          <a:lstStyle>
            <a:lvl1pPr marL="18288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B8015-E11A-42CA-AE88-7BD73F87E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09078-34CA-45CD-B479-03906A265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03258-F989-47B2-A643-A60CD8A7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614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A2F31-48B6-40CE-A364-3CE73FD8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EEA00-F166-41EB-9331-CA99BB70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B051F-F8FC-4FF6-9783-45F9FE7A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840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8635-A5AF-48F4-8CD2-FB0E01113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5E0E-DCC0-4781-A608-962B1241B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826" y="987425"/>
            <a:ext cx="604556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1F43E-3D50-4A1C-A289-B3D0DD0E7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70E3A-6639-4EA0-8305-C1899DAB4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AFD57-4189-42FB-B29E-96366E51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5E2EC-8483-4FBC-9D29-C19025FA8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40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E581-A090-4AE9-9965-B06BDB52B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39DEF4-262F-4ACF-9B29-3D4B819E70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53969" y="987425"/>
            <a:ext cx="5694503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D7CBB-7A6F-441E-9072-2494B952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59692-77BE-4A7D-AA70-635007A6E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9A4DA-63AF-4D6A-98DB-E1D0AC74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B7958-B19B-4C23-A82F-DD4E4B91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230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958AD-1CAD-45B3-B83D-DC9D33CD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53F2E-0397-4423-8A88-D0059DEAF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ADDE1-7025-4FA9-822D-481685085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A73E0-F328-46DC-98BE-CA0981F7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52226-010C-494F-8BE8-BF91F3553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F89E9C4-9D18-4529-BC0C-68EAE507CDF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DF5937-0C03-4786-AB62-3CF7CECB92D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AD93DB-2DB0-4B2D-884B-6EC453443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43327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C635D0-31D9-44E1-911D-F7D5D5400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53914" y="624313"/>
            <a:ext cx="2537986" cy="55097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F9230-1FA4-439D-A800-B5F006F07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0100" y="624313"/>
            <a:ext cx="7816542" cy="55097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AB2A3-7055-43AF-8BAB-0A9B7444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A1821-A311-49CD-BCB4-B4BC8866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7C6A8-813A-486A-AA90-AB28935F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8C7A17-06CC-442C-A876-A51B2B55650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4C1798A-2980-4F34-8355-7BCB6B295322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D7542C-E4AE-488F-BC75-2E7ED8391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25915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86DAE1-1F65-43B8-A400-95E6DEEDC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1438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5C993-A44B-4C2D-818E-4C9000BB0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21B6E-ECC6-47D0-9C14-812B746F1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5014" y="634204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E6171E64-FE02-4DE5-B72F-53C3706641C3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9A716-DEA9-48A9-A5BC-0F392D2B4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96200" y="6342042"/>
            <a:ext cx="3470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CB69E-A0E4-4558-9C62-4CD8CDD2A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329" y="6342042"/>
            <a:ext cx="5262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6ECC43-D65E-4A7B-A76B-D278A2184166}"/>
              </a:ext>
            </a:extLst>
          </p:cNvPr>
          <p:cNvGrpSpPr/>
          <p:nvPr/>
        </p:nvGrpSpPr>
        <p:grpSpPr>
          <a:xfrm flipV="1">
            <a:off x="11626076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EE443C5-5AB9-407B-A8C3-011BB14FEF0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38C9FA-DA5E-4785-8F4A-CA481A3A6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0624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01" r:id="rId7"/>
    <p:sldLayoutId id="2147483702" r:id="rId8"/>
    <p:sldLayoutId id="2147483703" r:id="rId9"/>
    <p:sldLayoutId id="2147483704" r:id="rId10"/>
    <p:sldLayoutId id="2147483711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20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FC321AD-2C92-446F-AF58-8CAA634BF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A855B9-EE27-4441-846C-35DF1C648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BC83B3A-8B1F-3359-D125-017F7679A62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6463" b="8309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0CABD0-FA2D-D3DC-D93A-6A29C1454A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261872"/>
            <a:ext cx="7142018" cy="285292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>
                <a:solidFill>
                  <a:srgbClr val="FFFFFF"/>
                </a:solidFill>
              </a:rPr>
              <a:t>Analyzing User Engagement on Facebook Marketplace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3B1509-2BC3-DE45-6A19-FEF69AB82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4681728"/>
            <a:ext cx="7142018" cy="92929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Insight into listing patterns and reaction behavior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F5D4DB-368A-4B23-81E4-E0454BAD8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3253" y="322803"/>
            <a:ext cx="642729" cy="2930667"/>
          </a:xfrm>
          <a:prstGeom prst="rect">
            <a:avLst/>
          </a:prstGeom>
          <a:blipFill dpi="0" rotWithShape="1">
            <a:blip r:embed="rId3">
              <a:alphaModFix amt="9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tile tx="0" ty="0" sx="6000" sy="6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72D7B9-36D5-4C1F-B7C9-36717C28F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206609" cy="20213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410B7-B495-E901-BE2C-672274565EB6}"/>
              </a:ext>
            </a:extLst>
          </p:cNvPr>
          <p:cNvSpPr txBox="1"/>
          <p:nvPr/>
        </p:nvSpPr>
        <p:spPr>
          <a:xfrm>
            <a:off x="9390743" y="5765077"/>
            <a:ext cx="1698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By: Anya Jain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196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CE587-1792-B67D-0641-240D86711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890" y="783771"/>
            <a:ext cx="10357666" cy="816604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4038408D-0526-C8B2-F8B4-B2729E3209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7908213"/>
              </p:ext>
            </p:extLst>
          </p:nvPr>
        </p:nvGraphicFramePr>
        <p:xfrm>
          <a:off x="808038" y="2365828"/>
          <a:ext cx="10358437" cy="38172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356972-3F75-BA24-C139-D93755E6D457}"/>
              </a:ext>
            </a:extLst>
          </p:cNvPr>
          <p:cNvCxnSpPr>
            <a:cxnSpLocks/>
          </p:cNvCxnSpPr>
          <p:nvPr/>
        </p:nvCxnSpPr>
        <p:spPr>
          <a:xfrm>
            <a:off x="706290" y="1799771"/>
            <a:ext cx="1004879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6E47C3E-42FF-1E78-27FD-A8408E550FA0}"/>
              </a:ext>
            </a:extLst>
          </p:cNvPr>
          <p:cNvCxnSpPr>
            <a:cxnSpLocks/>
          </p:cNvCxnSpPr>
          <p:nvPr/>
        </p:nvCxnSpPr>
        <p:spPr>
          <a:xfrm>
            <a:off x="706290" y="791028"/>
            <a:ext cx="1004879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413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852E84A-F49A-0862-8948-56EA49C0C462}"/>
              </a:ext>
            </a:extLst>
          </p:cNvPr>
          <p:cNvCxnSpPr>
            <a:cxnSpLocks/>
          </p:cNvCxnSpPr>
          <p:nvPr/>
        </p:nvCxnSpPr>
        <p:spPr>
          <a:xfrm>
            <a:off x="0" y="333829"/>
            <a:ext cx="4122057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C7C6C63-570F-53F0-BF25-ACC1F3E92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248" y="442685"/>
            <a:ext cx="3932237" cy="1600200"/>
          </a:xfrm>
        </p:spPr>
        <p:txBody>
          <a:bodyPr>
            <a:normAutofit/>
          </a:bodyPr>
          <a:lstStyle/>
          <a:p>
            <a:r>
              <a:rPr lang="en-US" sz="3000" dirty="0"/>
              <a:t>Dataset 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12C636-9AEA-761F-92FA-852D3890A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05989" y="645192"/>
            <a:ext cx="4926468" cy="577012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dataset used in this project contains information about the Facebook pages of 10 Thai fashion and cosmetics retail sellers.</a:t>
            </a:r>
            <a:r>
              <a:rPr lang="en-IN" dirty="0"/>
              <a:t> Each record corresponds to a unique post and includes various features such 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Product ID : </a:t>
            </a:r>
            <a:r>
              <a:rPr lang="en-US" dirty="0"/>
              <a:t>Unique identifier for each status post.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Status Published : </a:t>
            </a:r>
            <a:r>
              <a:rPr lang="en-US" dirty="0"/>
              <a:t>Date and time when the status post was published.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Status Type : </a:t>
            </a:r>
            <a:r>
              <a:rPr lang="en-US" dirty="0"/>
              <a:t>Nature of the status post (e.g., video, photo, status, link).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Num_Reactions</a:t>
            </a:r>
            <a:r>
              <a:rPr lang="en-US" b="1" dirty="0"/>
              <a:t> : </a:t>
            </a:r>
            <a:r>
              <a:rPr lang="en-US" dirty="0"/>
              <a:t>Number of reactions (likes, loves, wow, </a:t>
            </a:r>
            <a:r>
              <a:rPr lang="en-US" dirty="0" err="1"/>
              <a:t>haha</a:t>
            </a:r>
            <a:r>
              <a:rPr lang="en-US" dirty="0"/>
              <a:t>, sad, angry) received on the status post.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Num_Comments</a:t>
            </a:r>
            <a:r>
              <a:rPr lang="en-US" b="1" dirty="0"/>
              <a:t> : </a:t>
            </a:r>
            <a:r>
              <a:rPr lang="en-US" dirty="0"/>
              <a:t>Number of comments received on the status post.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/>
              <a:t>Num_Shares</a:t>
            </a:r>
            <a:r>
              <a:rPr lang="en-IN" b="1" dirty="0"/>
              <a:t> : </a:t>
            </a:r>
            <a:r>
              <a:rPr lang="en-US" dirty="0"/>
              <a:t>Number of shares received on the status post.</a:t>
            </a:r>
            <a:endParaRPr lang="en-IN" dirty="0"/>
          </a:p>
          <a:p>
            <a:r>
              <a:rPr lang="en-IN" dirty="0"/>
              <a:t>Thus, the dataset contains a mix of </a:t>
            </a:r>
            <a:r>
              <a:rPr lang="en-IN" b="1" dirty="0"/>
              <a:t>text, numerical, categorical, and timestamp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7" name="Delay 6">
            <a:extLst>
              <a:ext uri="{FF2B5EF4-FFF2-40B4-BE49-F238E27FC236}">
                <a16:creationId xmlns:a16="http://schemas.microsoft.com/office/drawing/2014/main" id="{2E80468F-7F44-281F-293C-178838B1A84E}"/>
              </a:ext>
            </a:extLst>
          </p:cNvPr>
          <p:cNvSpPr/>
          <p:nvPr/>
        </p:nvSpPr>
        <p:spPr>
          <a:xfrm>
            <a:off x="58057" y="2002971"/>
            <a:ext cx="5486401" cy="4855029"/>
          </a:xfrm>
          <a:prstGeom prst="flowChartDelay">
            <a:avLst/>
          </a:prstGeom>
          <a:blipFill>
            <a:blip r:embed="rId3"/>
            <a:stretch>
              <a:fillRect/>
            </a:stretch>
          </a:blipFill>
          <a:ln w="92075">
            <a:solidFill>
              <a:srgbClr val="EC6D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619883-24BE-1673-ECBA-754B4F4CF9AF}"/>
              </a:ext>
            </a:extLst>
          </p:cNvPr>
          <p:cNvCxnSpPr>
            <a:cxnSpLocks/>
          </p:cNvCxnSpPr>
          <p:nvPr/>
        </p:nvCxnSpPr>
        <p:spPr>
          <a:xfrm>
            <a:off x="58057" y="2042885"/>
            <a:ext cx="0" cy="4775200"/>
          </a:xfrm>
          <a:prstGeom prst="line">
            <a:avLst/>
          </a:prstGeom>
          <a:ln w="920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876F0F11-11E3-A2A7-2E4B-5C9EE21B0BF1}"/>
              </a:ext>
            </a:extLst>
          </p:cNvPr>
          <p:cNvSpPr/>
          <p:nvPr/>
        </p:nvSpPr>
        <p:spPr>
          <a:xfrm>
            <a:off x="12003314" y="4847771"/>
            <a:ext cx="188686" cy="2010229"/>
          </a:xfrm>
          <a:prstGeom prst="rect">
            <a:avLst/>
          </a:prstGeom>
          <a:solidFill>
            <a:srgbClr val="EC6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6920136-5F9B-DC60-8597-2B9C8B2E9D71}"/>
              </a:ext>
            </a:extLst>
          </p:cNvPr>
          <p:cNvCxnSpPr>
            <a:cxnSpLocks/>
          </p:cNvCxnSpPr>
          <p:nvPr/>
        </p:nvCxnSpPr>
        <p:spPr>
          <a:xfrm>
            <a:off x="0" y="1647372"/>
            <a:ext cx="4122057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045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2F9E468-35FD-9F04-E762-7FBF6BDE7566}"/>
              </a:ext>
            </a:extLst>
          </p:cNvPr>
          <p:cNvSpPr/>
          <p:nvPr/>
        </p:nvSpPr>
        <p:spPr>
          <a:xfrm>
            <a:off x="0" y="0"/>
            <a:ext cx="4862286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42FC2D-EF64-79E2-7616-BFD7D75F8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38" y="421367"/>
            <a:ext cx="3932237" cy="235086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Correlation between different engagement metrics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D278D0-00D1-BF01-3BE9-4BB385FEB9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9563" y="3102200"/>
            <a:ext cx="4035385" cy="3324226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The correlation matrix reveals that </a:t>
            </a:r>
            <a:r>
              <a:rPr lang="en-IN" b="1" dirty="0">
                <a:solidFill>
                  <a:schemeClr val="bg1"/>
                </a:solidFill>
              </a:rPr>
              <a:t>comments and shares</a:t>
            </a:r>
            <a:r>
              <a:rPr lang="en-IN" dirty="0">
                <a:solidFill>
                  <a:schemeClr val="bg1"/>
                </a:solidFill>
              </a:rPr>
              <a:t> are moderately correlated (</a:t>
            </a:r>
            <a:r>
              <a:rPr lang="en-IN" b="1" dirty="0">
                <a:solidFill>
                  <a:schemeClr val="bg1"/>
                </a:solidFill>
              </a:rPr>
              <a:t>0.64</a:t>
            </a:r>
            <a:r>
              <a:rPr lang="en-IN" dirty="0">
                <a:solidFill>
                  <a:schemeClr val="bg1"/>
                </a:solidFill>
              </a:rPr>
              <a:t>), suggesting that more interactive posts are more likely to be shared.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In contrast, </a:t>
            </a:r>
            <a:r>
              <a:rPr lang="en-IN" b="1" dirty="0">
                <a:solidFill>
                  <a:schemeClr val="bg1"/>
                </a:solidFill>
              </a:rPr>
              <a:t>reactions</a:t>
            </a:r>
            <a:r>
              <a:rPr lang="en-IN" dirty="0">
                <a:solidFill>
                  <a:schemeClr val="bg1"/>
                </a:solidFill>
              </a:rPr>
              <a:t> have a weak correlation with both </a:t>
            </a:r>
            <a:r>
              <a:rPr lang="en-IN" b="1" dirty="0">
                <a:solidFill>
                  <a:schemeClr val="bg1"/>
                </a:solidFill>
              </a:rPr>
              <a:t>comments (0.15)</a:t>
            </a:r>
            <a:r>
              <a:rPr lang="en-IN" dirty="0">
                <a:solidFill>
                  <a:schemeClr val="bg1"/>
                </a:solidFill>
              </a:rPr>
              <a:t> and </a:t>
            </a:r>
            <a:r>
              <a:rPr lang="en-IN" b="1" dirty="0">
                <a:solidFill>
                  <a:schemeClr val="bg1"/>
                </a:solidFill>
              </a:rPr>
              <a:t>shares (0.25)</a:t>
            </a:r>
            <a:r>
              <a:rPr lang="en-IN" dirty="0">
                <a:solidFill>
                  <a:schemeClr val="bg1"/>
                </a:solidFill>
              </a:rPr>
              <a:t>, indicating that while reactions show engagement, they are less influential in driving further interaction or virality.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5A61E39-137B-910C-6A02-CEE920DC07AA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7" r="12494"/>
          <a:stretch>
            <a:fillRect/>
          </a:stretch>
        </p:blipFill>
        <p:spPr bwMode="auto">
          <a:xfrm>
            <a:off x="5238596" y="1159234"/>
            <a:ext cx="6113616" cy="453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6558982-8C82-558D-48E3-3DB39276628E}"/>
              </a:ext>
            </a:extLst>
          </p:cNvPr>
          <p:cNvSpPr/>
          <p:nvPr/>
        </p:nvSpPr>
        <p:spPr>
          <a:xfrm>
            <a:off x="11974286" y="4847771"/>
            <a:ext cx="217714" cy="201022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02C0767-D8C2-0CAF-FC14-1B936D4CEF08}"/>
              </a:ext>
            </a:extLst>
          </p:cNvPr>
          <p:cNvCxnSpPr>
            <a:cxnSpLocks/>
          </p:cNvCxnSpPr>
          <p:nvPr/>
        </p:nvCxnSpPr>
        <p:spPr>
          <a:xfrm>
            <a:off x="581137" y="2873828"/>
            <a:ext cx="175566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7201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1E44BEF1-DE62-B582-863B-39BEF561CD0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44" y="2149616"/>
            <a:ext cx="5165896" cy="4110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9E9C5308-679A-39AF-BE45-56D84299C78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49616"/>
            <a:ext cx="5241311" cy="4110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661C86D-2F80-9741-7276-7905F145A321}"/>
              </a:ext>
            </a:extLst>
          </p:cNvPr>
          <p:cNvSpPr/>
          <p:nvPr/>
        </p:nvSpPr>
        <p:spPr>
          <a:xfrm>
            <a:off x="0" y="0"/>
            <a:ext cx="7866743" cy="1770743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4284F5-29EE-7BAE-FDED-209DAC8D8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66" y="181976"/>
            <a:ext cx="9336824" cy="130709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Time based trends in engagement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BFDEEEA-2F61-8A5E-FA5F-09AC1D2854BB}"/>
                  </a:ext>
                </a:extLst>
              </p14:cNvPr>
              <p14:cNvContentPartPr/>
              <p14:nvPr/>
            </p14:nvContentPartPr>
            <p14:xfrm>
              <a:off x="432366" y="343966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BFDEEEA-2F61-8A5E-FA5F-09AC1D2854B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4366" y="326326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ADF8199B-8814-16C4-EE03-24C78B9DDDFD}"/>
              </a:ext>
            </a:extLst>
          </p:cNvPr>
          <p:cNvSpPr/>
          <p:nvPr/>
        </p:nvSpPr>
        <p:spPr>
          <a:xfrm>
            <a:off x="0" y="0"/>
            <a:ext cx="319314" cy="28357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75886A-E337-CB84-4CB3-08CD7AAA9BBB}"/>
              </a:ext>
            </a:extLst>
          </p:cNvPr>
          <p:cNvSpPr/>
          <p:nvPr/>
        </p:nvSpPr>
        <p:spPr>
          <a:xfrm>
            <a:off x="7532915" y="4101"/>
            <a:ext cx="333828" cy="2794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744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B091B2F-E893-27AA-5960-0BFCDC0E5D9C}"/>
              </a:ext>
            </a:extLst>
          </p:cNvPr>
          <p:cNvSpPr/>
          <p:nvPr/>
        </p:nvSpPr>
        <p:spPr>
          <a:xfrm>
            <a:off x="130629" y="102254"/>
            <a:ext cx="8737599" cy="132896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5F030E-EA30-C8E1-3C9B-747143221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624" y="102254"/>
            <a:ext cx="10357666" cy="97399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Time based trend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30261-2E5F-06B6-ED71-EB3A4FFCF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1" y="1698904"/>
            <a:ext cx="4866424" cy="3970391"/>
          </a:xfrm>
        </p:spPr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b="1" dirty="0">
                <a:latin typeface="+mn-lt"/>
              </a:rPr>
              <a:t>Based on day of the week: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b="1" dirty="0"/>
              <a:t>Thursday</a:t>
            </a:r>
            <a:r>
              <a:rPr lang="en-IN" sz="1600" dirty="0"/>
              <a:t> has the highest average number of reactions, indicating peak engagement.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b="1" dirty="0"/>
              <a:t>Tuesday</a:t>
            </a:r>
            <a:r>
              <a:rPr lang="en-IN" sz="1600" dirty="0"/>
              <a:t> sees the lowest engagement, suggesting it's a less effective day to post.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b="1" dirty="0"/>
              <a:t>Midweek (Wednesday to Friday)</a:t>
            </a:r>
            <a:r>
              <a:rPr lang="en-IN" sz="1600" dirty="0"/>
              <a:t> generally shows higher interaction than the start of the week.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b="1" dirty="0"/>
              <a:t>Weekend (Saturday &amp; Sunday)</a:t>
            </a:r>
            <a:r>
              <a:rPr lang="en-IN" sz="1600" dirty="0"/>
              <a:t> also maintains decent average reactions.</a:t>
            </a: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E1637C-1CD4-30D6-9308-9876D02DC77E}"/>
              </a:ext>
            </a:extLst>
          </p:cNvPr>
          <p:cNvSpPr txBox="1"/>
          <p:nvPr/>
        </p:nvSpPr>
        <p:spPr>
          <a:xfrm>
            <a:off x="6032069" y="1698904"/>
            <a:ext cx="5159477" cy="3682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2000" b="1" dirty="0"/>
              <a:t>Based on time of the day: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The </a:t>
            </a:r>
            <a:r>
              <a:rPr lang="en-IN" sz="1600" b="1" dirty="0">
                <a:latin typeface="+mj-lt"/>
              </a:rPr>
              <a:t>highest engagement</a:t>
            </a:r>
            <a:r>
              <a:rPr lang="en-IN" sz="1600" dirty="0">
                <a:latin typeface="+mj-lt"/>
              </a:rPr>
              <a:t> occurs around </a:t>
            </a:r>
            <a:r>
              <a:rPr lang="en-IN" sz="1600" b="1" dirty="0">
                <a:latin typeface="+mj-lt"/>
              </a:rPr>
              <a:t>7 PM (19:00 hours)</a:t>
            </a:r>
            <a:r>
              <a:rPr lang="en-IN" sz="1600" dirty="0">
                <a:latin typeface="+mj-lt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Reactions begin increasing from </a:t>
            </a:r>
            <a:r>
              <a:rPr lang="en-IN" sz="1600" b="1" dirty="0">
                <a:latin typeface="+mj-lt"/>
              </a:rPr>
              <a:t>3 PM (15:00)</a:t>
            </a:r>
            <a:r>
              <a:rPr lang="en-IN" sz="1600" dirty="0">
                <a:latin typeface="+mj-lt"/>
              </a:rPr>
              <a:t> and peak in the </a:t>
            </a:r>
            <a:r>
              <a:rPr lang="en-IN" sz="1600" b="1" dirty="0">
                <a:latin typeface="+mj-lt"/>
              </a:rPr>
              <a:t>late evening</a:t>
            </a:r>
            <a:r>
              <a:rPr lang="en-IN" sz="1600" dirty="0">
                <a:latin typeface="+mj-lt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+mj-lt"/>
              </a:rPr>
              <a:t>Lowest activity</a:t>
            </a:r>
            <a:r>
              <a:rPr lang="en-IN" sz="1600" dirty="0">
                <a:latin typeface="+mj-lt"/>
              </a:rPr>
              <a:t> is observed in the </a:t>
            </a:r>
            <a:r>
              <a:rPr lang="en-IN" sz="1600" b="1" dirty="0">
                <a:latin typeface="+mj-lt"/>
              </a:rPr>
              <a:t>early morning (2–6 AM)</a:t>
            </a:r>
            <a:r>
              <a:rPr lang="en-IN" sz="1600" dirty="0">
                <a:latin typeface="+mj-lt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There is a </a:t>
            </a:r>
            <a:r>
              <a:rPr lang="en-IN" sz="1600" b="1" dirty="0">
                <a:latin typeface="+mj-lt"/>
              </a:rPr>
              <a:t>noticeable dip</a:t>
            </a:r>
            <a:r>
              <a:rPr lang="en-IN" sz="1600" dirty="0">
                <a:latin typeface="+mj-lt"/>
              </a:rPr>
              <a:t> in reactions between </a:t>
            </a:r>
            <a:r>
              <a:rPr lang="en-IN" sz="1600" b="1" dirty="0">
                <a:latin typeface="+mj-lt"/>
              </a:rPr>
              <a:t>9 AM to 2 PM</a:t>
            </a:r>
            <a:r>
              <a:rPr lang="en-IN" sz="1600" dirty="0">
                <a:latin typeface="+mj-lt"/>
              </a:rPr>
              <a:t>, possibly due to users being busy with daytime routines.</a:t>
            </a:r>
            <a:endParaRPr lang="en-US" sz="1600" dirty="0">
              <a:latin typeface="+mj-lt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2091BAC-A3C9-7532-752E-1C931724046B}"/>
              </a:ext>
            </a:extLst>
          </p:cNvPr>
          <p:cNvSpPr/>
          <p:nvPr/>
        </p:nvSpPr>
        <p:spPr>
          <a:xfrm>
            <a:off x="808661" y="5622240"/>
            <a:ext cx="10446815" cy="856342"/>
          </a:xfrm>
          <a:prstGeom prst="roundRect">
            <a:avLst/>
          </a:prstGeom>
          <a:solidFill>
            <a:srgbClr val="EC6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2BA126-FD3B-B7DB-9245-7B382D43742E}"/>
              </a:ext>
            </a:extLst>
          </p:cNvPr>
          <p:cNvSpPr txBox="1"/>
          <p:nvPr/>
        </p:nvSpPr>
        <p:spPr>
          <a:xfrm>
            <a:off x="808664" y="5742634"/>
            <a:ext cx="1057467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b="1" dirty="0">
                <a:solidFill>
                  <a:schemeClr val="bg1"/>
                </a:solidFill>
              </a:rPr>
              <a:t>Key Insights 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IN" sz="1600" dirty="0">
                <a:solidFill>
                  <a:schemeClr val="bg1"/>
                </a:solidFill>
                <a:latin typeface="+mj-lt"/>
              </a:rPr>
              <a:t>To maximize engagement, aim to post on </a:t>
            </a:r>
            <a:r>
              <a:rPr lang="en-IN" sz="1600" b="1" dirty="0">
                <a:solidFill>
                  <a:schemeClr val="bg1"/>
                </a:solidFill>
                <a:latin typeface="+mj-lt"/>
              </a:rPr>
              <a:t>Thursdays or Wednesdays</a:t>
            </a:r>
            <a:r>
              <a:rPr lang="en-IN" sz="1600" dirty="0">
                <a:solidFill>
                  <a:schemeClr val="bg1"/>
                </a:solidFill>
                <a:latin typeface="+mj-lt"/>
              </a:rPr>
              <a:t>, and avoid </a:t>
            </a:r>
            <a:r>
              <a:rPr lang="en-IN" sz="1600" b="1" dirty="0">
                <a:solidFill>
                  <a:schemeClr val="bg1"/>
                </a:solidFill>
                <a:latin typeface="+mj-lt"/>
              </a:rPr>
              <a:t>Tuesdays</a:t>
            </a:r>
            <a:r>
              <a:rPr lang="en-IN" sz="1600" dirty="0">
                <a:solidFill>
                  <a:schemeClr val="bg1"/>
                </a:solidFill>
                <a:latin typeface="+mj-lt"/>
              </a:rPr>
              <a:t> if possible. Schedule posts between </a:t>
            </a:r>
            <a:r>
              <a:rPr lang="en-IN" sz="1600" b="1" dirty="0">
                <a:solidFill>
                  <a:schemeClr val="bg1"/>
                </a:solidFill>
                <a:latin typeface="+mj-lt"/>
              </a:rPr>
              <a:t>6 PM to 9 PM</a:t>
            </a:r>
            <a:r>
              <a:rPr lang="en-IN" sz="1600" dirty="0">
                <a:solidFill>
                  <a:schemeClr val="bg1"/>
                </a:solidFill>
                <a:latin typeface="+mj-lt"/>
              </a:rPr>
              <a:t> for maximum reach and reactions.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24082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C024122-C80E-4076-B618-426FF2225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A2B1CB-AD8F-69FF-4DF9-1AA4BF31C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09" y="440350"/>
            <a:ext cx="10591800" cy="852115"/>
          </a:xfrm>
        </p:spPr>
        <p:txBody>
          <a:bodyPr anchor="b">
            <a:normAutofit/>
          </a:bodyPr>
          <a:lstStyle/>
          <a:p>
            <a:r>
              <a:rPr lang="en-US" dirty="0"/>
              <a:t>Engagement analysis by post type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29DAB2C-3574-4B22-939F-BB6C5D263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581000" cy="3664635"/>
            <a:chOff x="5006254" y="-1431285"/>
            <a:chExt cx="581000" cy="366463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6BD37F6-BAB4-4BBF-B3E2-4395EAB83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V="1">
              <a:off x="5061025" y="-788944"/>
              <a:ext cx="526229" cy="3022294"/>
            </a:xfrm>
            <a:prstGeom prst="rect">
              <a:avLst/>
            </a:pr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9809A8D-5A7C-4A05-9F64-844C66FAB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V="1">
              <a:off x="5006254" y="-143128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01FEE-FCEB-F44C-D9B6-16DA4710D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453" y="1958851"/>
            <a:ext cx="4795574" cy="4458799"/>
          </a:xfrm>
        </p:spPr>
        <p:txBody>
          <a:bodyPr>
            <a:normAutofit/>
          </a:bodyPr>
          <a:lstStyle/>
          <a:p>
            <a:pPr marL="264600">
              <a:lnSpc>
                <a:spcPct val="100000"/>
              </a:lnSpc>
              <a:spcBef>
                <a:spcPts val="400"/>
              </a:spcBef>
              <a:buFont typeface="Wingdings" pitchFamily="2" charset="2"/>
              <a:buChar char="Ø"/>
            </a:pPr>
            <a:r>
              <a:rPr lang="en-US" sz="1800" dirty="0"/>
              <a:t>The number of different types of posts in the given dataset are:</a:t>
            </a:r>
          </a:p>
          <a:p>
            <a:pPr marL="3600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b="1" dirty="0"/>
              <a:t>     </a:t>
            </a:r>
            <a:r>
              <a:rPr lang="en-US" sz="1600" b="1" dirty="0">
                <a:sym typeface="Wingdings" pitchFamily="2" charset="2"/>
              </a:rPr>
              <a:t></a:t>
            </a:r>
            <a:r>
              <a:rPr lang="en-US" sz="1600" b="1" dirty="0"/>
              <a:t>Photo</a:t>
            </a:r>
            <a:r>
              <a:rPr lang="en-US" sz="1600" dirty="0"/>
              <a:t> : 2388         </a:t>
            </a:r>
            <a:r>
              <a:rPr lang="en-US" sz="1600" b="1" dirty="0">
                <a:sym typeface="Wingdings" pitchFamily="2" charset="2"/>
              </a:rPr>
              <a:t></a:t>
            </a:r>
            <a:r>
              <a:rPr lang="en-US" sz="1600" b="1" dirty="0"/>
              <a:t>Video </a:t>
            </a:r>
            <a:r>
              <a:rPr lang="en-US" sz="1600" dirty="0"/>
              <a:t>: 2334</a:t>
            </a:r>
          </a:p>
          <a:p>
            <a:pPr marL="3600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600" b="1" dirty="0"/>
              <a:t>      </a:t>
            </a:r>
            <a:r>
              <a:rPr lang="en-US" sz="1600" b="1" dirty="0">
                <a:sym typeface="Wingdings" pitchFamily="2" charset="2"/>
              </a:rPr>
              <a:t></a:t>
            </a:r>
            <a:r>
              <a:rPr lang="en-US" sz="1600" b="1" dirty="0"/>
              <a:t>Status </a:t>
            </a:r>
            <a:r>
              <a:rPr lang="en-US" sz="1600" dirty="0"/>
              <a:t>: 365</a:t>
            </a:r>
            <a:r>
              <a:rPr lang="en-US" sz="1600" b="1" dirty="0"/>
              <a:t>.          </a:t>
            </a:r>
            <a:r>
              <a:rPr lang="en-US" sz="1600" b="1" dirty="0">
                <a:sym typeface="Wingdings" pitchFamily="2" charset="2"/>
              </a:rPr>
              <a:t></a:t>
            </a:r>
            <a:r>
              <a:rPr lang="en-US" sz="1600" b="1" dirty="0"/>
              <a:t>Link</a:t>
            </a:r>
            <a:r>
              <a:rPr lang="en-US" sz="1600" dirty="0"/>
              <a:t> : 63</a:t>
            </a:r>
          </a:p>
          <a:p>
            <a:pPr marL="36000" indent="0">
              <a:lnSpc>
                <a:spcPct val="100000"/>
              </a:lnSpc>
              <a:spcBef>
                <a:spcPts val="400"/>
              </a:spcBef>
              <a:buNone/>
            </a:pPr>
            <a:endParaRPr lang="en-US" sz="1600" dirty="0"/>
          </a:p>
          <a:p>
            <a:pPr marL="321750" indent="-285750">
              <a:lnSpc>
                <a:spcPct val="100000"/>
              </a:lnSpc>
              <a:spcBef>
                <a:spcPts val="400"/>
              </a:spcBef>
              <a:buFont typeface="Wingdings" pitchFamily="2" charset="2"/>
              <a:buChar char="Ø"/>
            </a:pPr>
            <a:r>
              <a:rPr lang="en-US" sz="1800" dirty="0"/>
              <a:t>These metrics indicate that:</a:t>
            </a:r>
          </a:p>
          <a:p>
            <a:pPr marL="550350" lvl="1" indent="-2857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Videos drive the most interaction</a:t>
            </a:r>
            <a:r>
              <a:rPr lang="en-IN" sz="1600" dirty="0"/>
              <a:t>, specially in </a:t>
            </a:r>
            <a:r>
              <a:rPr lang="en-IN" sz="1600" b="1" dirty="0"/>
              <a:t>comments and shares</a:t>
            </a:r>
            <a:r>
              <a:rPr lang="en-IN" sz="1600" dirty="0"/>
              <a:t>, indicating they are highly engaging content.</a:t>
            </a:r>
          </a:p>
          <a:p>
            <a:pPr marL="550350" lvl="1" indent="-2857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Status posts</a:t>
            </a:r>
            <a:r>
              <a:rPr lang="en-IN" sz="1600" dirty="0"/>
              <a:t> generate the </a:t>
            </a:r>
            <a:r>
              <a:rPr lang="en-IN" sz="1600" b="1" dirty="0"/>
              <a:t>most reactions</a:t>
            </a:r>
            <a:r>
              <a:rPr lang="en-IN" sz="1600" dirty="0"/>
              <a:t>, suggesting personal or text-based updates spark interest.</a:t>
            </a:r>
          </a:p>
          <a:p>
            <a:pPr marL="550350" lvl="1" indent="-2857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Links</a:t>
            </a:r>
            <a:r>
              <a:rPr lang="en-IN" sz="1600" dirty="0"/>
              <a:t>, while getting some reactions, are </a:t>
            </a:r>
            <a:r>
              <a:rPr lang="en-IN" sz="1600" b="1" dirty="0"/>
              <a:t>least interactive</a:t>
            </a:r>
            <a:r>
              <a:rPr lang="en-IN" sz="1600" dirty="0"/>
              <a:t> in terms of comments and shares.</a:t>
            </a:r>
          </a:p>
          <a:p>
            <a:pPr marL="550350" lvl="1" indent="-2857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550350" lvl="1" indent="-2857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550350" lvl="1" indent="-2857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321750" indent="-285750">
              <a:lnSpc>
                <a:spcPct val="100000"/>
              </a:lnSpc>
              <a:spcBef>
                <a:spcPts val="400"/>
              </a:spcBef>
              <a:buFont typeface="Wingdings" pitchFamily="2" charset="2"/>
              <a:buChar char="Ø"/>
            </a:pPr>
            <a:endParaRPr lang="en-US" sz="1600" dirty="0"/>
          </a:p>
          <a:p>
            <a:pPr marL="36000" indent="0">
              <a:lnSpc>
                <a:spcPct val="100000"/>
              </a:lnSpc>
              <a:spcBef>
                <a:spcPts val="400"/>
              </a:spcBef>
              <a:buNone/>
            </a:pPr>
            <a:endParaRPr lang="en-US" sz="1800" dirty="0"/>
          </a:p>
          <a:p>
            <a:pPr marL="264600" lvl="1" indent="0">
              <a:lnSpc>
                <a:spcPct val="100000"/>
              </a:lnSpc>
              <a:spcBef>
                <a:spcPts val="400"/>
              </a:spcBef>
              <a:buNone/>
            </a:pPr>
            <a:endParaRPr lang="en-US" sz="1600" dirty="0"/>
          </a:p>
          <a:p>
            <a:pPr lvl="1">
              <a:buFont typeface="Wingdings" pitchFamily="2" charset="2"/>
              <a:buChar char="Ø"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48E345F-4FEB-62F4-F577-339AC40872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994727"/>
              </p:ext>
            </p:extLst>
          </p:nvPr>
        </p:nvGraphicFramePr>
        <p:xfrm>
          <a:off x="6197249" y="2831054"/>
          <a:ext cx="5426529" cy="232902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63624">
                  <a:extLst>
                    <a:ext uri="{9D8B030D-6E8A-4147-A177-3AD203B41FA5}">
                      <a16:colId xmlns:a16="http://schemas.microsoft.com/office/drawing/2014/main" val="296972171"/>
                    </a:ext>
                  </a:extLst>
                </a:gridCol>
                <a:gridCol w="1004188">
                  <a:extLst>
                    <a:ext uri="{9D8B030D-6E8A-4147-A177-3AD203B41FA5}">
                      <a16:colId xmlns:a16="http://schemas.microsoft.com/office/drawing/2014/main" val="1507985452"/>
                    </a:ext>
                  </a:extLst>
                </a:gridCol>
                <a:gridCol w="990202">
                  <a:extLst>
                    <a:ext uri="{9D8B030D-6E8A-4147-A177-3AD203B41FA5}">
                      <a16:colId xmlns:a16="http://schemas.microsoft.com/office/drawing/2014/main" val="995673083"/>
                    </a:ext>
                  </a:extLst>
                </a:gridCol>
                <a:gridCol w="1060130">
                  <a:extLst>
                    <a:ext uri="{9D8B030D-6E8A-4147-A177-3AD203B41FA5}">
                      <a16:colId xmlns:a16="http://schemas.microsoft.com/office/drawing/2014/main" val="2214219316"/>
                    </a:ext>
                  </a:extLst>
                </a:gridCol>
                <a:gridCol w="808385">
                  <a:extLst>
                    <a:ext uri="{9D8B030D-6E8A-4147-A177-3AD203B41FA5}">
                      <a16:colId xmlns:a16="http://schemas.microsoft.com/office/drawing/2014/main" val="1693406250"/>
                    </a:ext>
                  </a:extLst>
                </a:gridCol>
              </a:tblGrid>
              <a:tr h="582257"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5847" marR="75847" marT="37924" marB="37924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>
                          <a:solidFill>
                            <a:schemeClr val="bg1"/>
                          </a:solidFill>
                        </a:rPr>
                        <a:t>Photo</a:t>
                      </a:r>
                    </a:p>
                  </a:txBody>
                  <a:tcPr marL="75847" marR="75847" marT="37924" marB="37924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Video</a:t>
                      </a:r>
                    </a:p>
                  </a:txBody>
                  <a:tcPr marL="75847" marR="75847" marT="37924" marB="37924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/>
                        <a:t>Status</a:t>
                      </a:r>
                    </a:p>
                  </a:txBody>
                  <a:tcPr marL="75847" marR="75847" marT="37924" marB="37924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/>
                        <a:t>Link</a:t>
                      </a:r>
                    </a:p>
                  </a:txBody>
                  <a:tcPr marL="75847" marR="75847" marT="37924" marB="37924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389726"/>
                  </a:ext>
                </a:extLst>
              </a:tr>
              <a:tr h="58225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Reactions</a:t>
                      </a:r>
                    </a:p>
                  </a:txBody>
                  <a:tcPr marL="75847" marR="75847" marT="37924" marB="37924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181</a:t>
                      </a:r>
                    </a:p>
                  </a:txBody>
                  <a:tcPr marL="75847" marR="75847" marT="37924" marB="37924" anchor="ctr">
                    <a:solidFill>
                      <a:srgbClr val="002060">
                        <a:alpha val="2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283</a:t>
                      </a:r>
                    </a:p>
                  </a:txBody>
                  <a:tcPr marL="75847" marR="75847" marT="37924" marB="37924" anchor="ctr">
                    <a:solidFill>
                      <a:srgbClr val="002060">
                        <a:alpha val="2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439</a:t>
                      </a:r>
                    </a:p>
                  </a:txBody>
                  <a:tcPr marL="75847" marR="75847" marT="37924" marB="37924" anchor="ctr">
                    <a:solidFill>
                      <a:srgbClr val="002060">
                        <a:alpha val="2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370</a:t>
                      </a:r>
                    </a:p>
                  </a:txBody>
                  <a:tcPr marL="75847" marR="75847" marT="37924" marB="37924" anchor="ctr">
                    <a:solidFill>
                      <a:srgbClr val="002060">
                        <a:alpha val="2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324318"/>
                  </a:ext>
                </a:extLst>
              </a:tr>
              <a:tr h="582257"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chemeClr val="bg1"/>
                          </a:solidFill>
                        </a:rPr>
                        <a:t>Comments</a:t>
                      </a:r>
                    </a:p>
                  </a:txBody>
                  <a:tcPr marL="75847" marR="75847" marT="37924" marB="37924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16</a:t>
                      </a:r>
                    </a:p>
                  </a:txBody>
                  <a:tcPr marL="75847" marR="75847" marT="37924" marB="37924" anchor="ctr">
                    <a:solidFill>
                      <a:srgbClr val="002060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642</a:t>
                      </a:r>
                    </a:p>
                  </a:txBody>
                  <a:tcPr marL="75847" marR="75847" marT="37924" marB="37924" anchor="ctr">
                    <a:solidFill>
                      <a:srgbClr val="002060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36</a:t>
                      </a:r>
                    </a:p>
                  </a:txBody>
                  <a:tcPr marL="75847" marR="75847" marT="37924" marB="37924" anchor="ctr">
                    <a:solidFill>
                      <a:srgbClr val="002060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6</a:t>
                      </a:r>
                    </a:p>
                  </a:txBody>
                  <a:tcPr marL="75847" marR="75847" marT="37924" marB="37924" anchor="ctr">
                    <a:solidFill>
                      <a:srgbClr val="002060">
                        <a:alpha val="1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44383"/>
                  </a:ext>
                </a:extLst>
              </a:tr>
              <a:tr h="58225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Shares</a:t>
                      </a:r>
                    </a:p>
                  </a:txBody>
                  <a:tcPr marL="75847" marR="75847" marT="37924" marB="37924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3</a:t>
                      </a:r>
                    </a:p>
                  </a:txBody>
                  <a:tcPr marL="75847" marR="75847" marT="37924" marB="37924" anchor="ctr">
                    <a:solidFill>
                      <a:srgbClr val="002060">
                        <a:alpha val="219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116</a:t>
                      </a:r>
                    </a:p>
                  </a:txBody>
                  <a:tcPr marL="75847" marR="75847" marT="37924" marB="37924" anchor="ctr">
                    <a:solidFill>
                      <a:srgbClr val="002060">
                        <a:alpha val="219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3</a:t>
                      </a:r>
                    </a:p>
                  </a:txBody>
                  <a:tcPr marL="75847" marR="75847" marT="37924" marB="37924" anchor="ctr">
                    <a:solidFill>
                      <a:srgbClr val="002060">
                        <a:alpha val="219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</a:p>
                  </a:txBody>
                  <a:tcPr marL="75847" marR="75847" marT="37924" marB="37924" anchor="ctr">
                    <a:solidFill>
                      <a:srgbClr val="002060">
                        <a:alpha val="2190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4325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ACBAA20-E817-029D-2829-92BE26EDE02C}"/>
              </a:ext>
            </a:extLst>
          </p:cNvPr>
          <p:cNvSpPr txBox="1"/>
          <p:nvPr/>
        </p:nvSpPr>
        <p:spPr>
          <a:xfrm>
            <a:off x="5881480" y="1958852"/>
            <a:ext cx="5426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750" indent="-285750">
              <a:buFont typeface="Wingdings" pitchFamily="2" charset="2"/>
              <a:buChar char="Ø"/>
            </a:pPr>
            <a:r>
              <a:rPr lang="en-US" sz="1600" dirty="0"/>
              <a:t>The average engagement statistics are given by the following table: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DAF6452-F7E3-E6E5-BDDE-65E7AD713611}"/>
              </a:ext>
            </a:extLst>
          </p:cNvPr>
          <p:cNvCxnSpPr>
            <a:cxnSpLocks/>
          </p:cNvCxnSpPr>
          <p:nvPr/>
        </p:nvCxnSpPr>
        <p:spPr>
          <a:xfrm>
            <a:off x="800100" y="1671424"/>
            <a:ext cx="902607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1CA4BDD-FB59-DF71-7870-675AD7756A7C}"/>
              </a:ext>
            </a:extLst>
          </p:cNvPr>
          <p:cNvCxnSpPr>
            <a:cxnSpLocks/>
          </p:cNvCxnSpPr>
          <p:nvPr/>
        </p:nvCxnSpPr>
        <p:spPr>
          <a:xfrm flipV="1">
            <a:off x="800100" y="250194"/>
            <a:ext cx="9026071" cy="257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DEB7B69-5856-E5CD-C6A7-B732AD56F19E}"/>
              </a:ext>
            </a:extLst>
          </p:cNvPr>
          <p:cNvSpPr/>
          <p:nvPr/>
        </p:nvSpPr>
        <p:spPr>
          <a:xfrm>
            <a:off x="6087320" y="6664877"/>
            <a:ext cx="6096001" cy="193123"/>
          </a:xfrm>
          <a:prstGeom prst="rect">
            <a:avLst/>
          </a:prstGeom>
          <a:solidFill>
            <a:srgbClr val="EC6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448112-499A-0C1E-C7AA-411553C109DD}"/>
              </a:ext>
            </a:extLst>
          </p:cNvPr>
          <p:cNvSpPr/>
          <p:nvPr/>
        </p:nvSpPr>
        <p:spPr>
          <a:xfrm>
            <a:off x="11954422" y="5546327"/>
            <a:ext cx="237578" cy="1311673"/>
          </a:xfrm>
          <a:prstGeom prst="rect">
            <a:avLst/>
          </a:prstGeom>
          <a:solidFill>
            <a:srgbClr val="EC6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elay 27">
            <a:extLst>
              <a:ext uri="{FF2B5EF4-FFF2-40B4-BE49-F238E27FC236}">
                <a16:creationId xmlns:a16="http://schemas.microsoft.com/office/drawing/2014/main" id="{D1C6636A-C7B5-88BC-507D-EA0EA541F6B1}"/>
              </a:ext>
            </a:extLst>
          </p:cNvPr>
          <p:cNvSpPr/>
          <p:nvPr/>
        </p:nvSpPr>
        <p:spPr>
          <a:xfrm rot="16200000">
            <a:off x="11970641" y="5324968"/>
            <a:ext cx="193121" cy="249596"/>
          </a:xfrm>
          <a:prstGeom prst="flowChartDelay">
            <a:avLst/>
          </a:prstGeom>
          <a:solidFill>
            <a:srgbClr val="EC6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elay 28">
            <a:extLst>
              <a:ext uri="{FF2B5EF4-FFF2-40B4-BE49-F238E27FC236}">
                <a16:creationId xmlns:a16="http://schemas.microsoft.com/office/drawing/2014/main" id="{3B264254-FA79-41ED-1F60-E172C6C4CAD3}"/>
              </a:ext>
            </a:extLst>
          </p:cNvPr>
          <p:cNvSpPr/>
          <p:nvPr/>
        </p:nvSpPr>
        <p:spPr>
          <a:xfrm rot="10800000">
            <a:off x="5910859" y="6664877"/>
            <a:ext cx="237578" cy="205494"/>
          </a:xfrm>
          <a:prstGeom prst="flowChartDelay">
            <a:avLst/>
          </a:prstGeom>
          <a:solidFill>
            <a:srgbClr val="EC6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631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05BF1-04C8-8684-3FC5-CABC539EE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061" y="607786"/>
            <a:ext cx="10357666" cy="744032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05E158-1B21-6014-9155-C609CEAD68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4233663"/>
              </p:ext>
            </p:extLst>
          </p:nvPr>
        </p:nvGraphicFramePr>
        <p:xfrm>
          <a:off x="808662" y="2019299"/>
          <a:ext cx="10357666" cy="41148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D3E6904-B341-BCF9-7344-B87348B15EE9}"/>
              </a:ext>
            </a:extLst>
          </p:cNvPr>
          <p:cNvCxnSpPr>
            <a:cxnSpLocks/>
          </p:cNvCxnSpPr>
          <p:nvPr/>
        </p:nvCxnSpPr>
        <p:spPr>
          <a:xfrm>
            <a:off x="609600" y="1538514"/>
            <a:ext cx="509451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12DF7F-F722-76C1-AD11-9FC3DB4E5385}"/>
              </a:ext>
            </a:extLst>
          </p:cNvPr>
          <p:cNvCxnSpPr>
            <a:cxnSpLocks/>
          </p:cNvCxnSpPr>
          <p:nvPr/>
        </p:nvCxnSpPr>
        <p:spPr>
          <a:xfrm>
            <a:off x="609600" y="607786"/>
            <a:ext cx="509451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707950"/>
      </p:ext>
    </p:extLst>
  </p:cSld>
  <p:clrMapOvr>
    <a:masterClrMapping/>
  </p:clrMapOvr>
</p:sld>
</file>

<file path=ppt/theme/theme1.xml><?xml version="1.0" encoding="utf-8"?>
<a:theme xmlns:a="http://schemas.openxmlformats.org/drawingml/2006/main" name="VeniceBeachVTI">
  <a:themeElements>
    <a:clrScheme name="Venice Beach">
      <a:dk1>
        <a:sysClr val="windowText" lastClr="000000"/>
      </a:dk1>
      <a:lt1>
        <a:sysClr val="window" lastClr="FFFFFF"/>
      </a:lt1>
      <a:dk2>
        <a:srgbClr val="2B3E3D"/>
      </a:dk2>
      <a:lt2>
        <a:srgbClr val="FEF3EB"/>
      </a:lt2>
      <a:accent1>
        <a:srgbClr val="FE8542"/>
      </a:accent1>
      <a:accent2>
        <a:srgbClr val="EC6D60"/>
      </a:accent2>
      <a:accent3>
        <a:srgbClr val="CDA32B"/>
      </a:accent3>
      <a:accent4>
        <a:srgbClr val="EE66A7"/>
      </a:accent4>
      <a:accent5>
        <a:srgbClr val="EA5F48"/>
      </a:accent5>
      <a:accent6>
        <a:srgbClr val="C8466B"/>
      </a:accent6>
      <a:hlink>
        <a:srgbClr val="E46153"/>
      </a:hlink>
      <a:folHlink>
        <a:srgbClr val="CF63B0"/>
      </a:folHlink>
    </a:clrScheme>
    <a:fontScheme name="Avenir 1">
      <a:majorFont>
        <a:latin typeface="Avenir Next LT Pro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eniceBeachVTI" id="{69839BBA-F383-4FFD-B56A-E36ACE43E09D}" vid="{060D2740-A69C-444A-B833-E03D333ADD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689</Words>
  <Application>Microsoft Macintosh PowerPoint</Application>
  <PresentationFormat>Widescreen</PresentationFormat>
  <Paragraphs>75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Avenir Next LT Pro</vt:lpstr>
      <vt:lpstr>Avenir Next LT Pro Light</vt:lpstr>
      <vt:lpstr>Wingdings</vt:lpstr>
      <vt:lpstr>VeniceBeachVTI</vt:lpstr>
      <vt:lpstr>Analyzing User Engagement on Facebook Marketplace</vt:lpstr>
      <vt:lpstr>Objectives</vt:lpstr>
      <vt:lpstr>Dataset overview</vt:lpstr>
      <vt:lpstr>Correlation between different engagement metrics</vt:lpstr>
      <vt:lpstr>Time based trends in engagement</vt:lpstr>
      <vt:lpstr>Time based trend analysis</vt:lpstr>
      <vt:lpstr>Engagement analysis by post type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Kinshuk Jain</dc:creator>
  <cp:lastModifiedBy>Kinshuk Jain</cp:lastModifiedBy>
  <cp:revision>3</cp:revision>
  <dcterms:created xsi:type="dcterms:W3CDTF">2025-07-02T01:10:28Z</dcterms:created>
  <dcterms:modified xsi:type="dcterms:W3CDTF">2025-12-22T19:05:51Z</dcterms:modified>
</cp:coreProperties>
</file>